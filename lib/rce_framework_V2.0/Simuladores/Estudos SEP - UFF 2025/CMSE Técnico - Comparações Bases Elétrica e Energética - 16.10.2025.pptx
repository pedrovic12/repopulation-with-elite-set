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142" r:id="rId5"/>
    <p:sldId id="8346" r:id="rId6"/>
    <p:sldId id="8328" r:id="rId7"/>
    <p:sldId id="8367" r:id="rId8"/>
    <p:sldId id="8369" r:id="rId9"/>
    <p:sldId id="8357" r:id="rId10"/>
    <p:sldId id="8350" r:id="rId11"/>
    <p:sldId id="8371" r:id="rId12"/>
    <p:sldId id="8370" r:id="rId13"/>
    <p:sldId id="8349" r:id="rId14"/>
    <p:sldId id="8348" r:id="rId15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10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3FB2617-5BEC-140B-EDDD-F33E7EFC6985}" name="Bibiana Rodrigues Colossi" initials="BR" userId="S::bibiana.colossi@ons.org.br::baee4947-38c1-41b2-bb20-3a888307296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lia Ferreira Dos Santos" initials="MFDS" lastIdx="2" clrIdx="0">
    <p:extLst>
      <p:ext uri="{19B8F6BF-5375-455C-9EA6-DF929625EA0E}">
        <p15:presenceInfo xmlns:p15="http://schemas.microsoft.com/office/powerpoint/2012/main" userId="S::marilia.santos@ons.org.br::16db3f06-36cd-4fef-b009-284571d2b3cc" providerId="AD"/>
      </p:ext>
    </p:extLst>
  </p:cmAuthor>
  <p:cmAuthor id="2" name="Aline Abreu Eleterio" initials="AAE" lastIdx="2" clrIdx="1">
    <p:extLst>
      <p:ext uri="{19B8F6BF-5375-455C-9EA6-DF929625EA0E}">
        <p15:presenceInfo xmlns:p15="http://schemas.microsoft.com/office/powerpoint/2012/main" userId="S::aabreu@ons.org.br::f066023a-bc73-4be4-9814-092515f5e20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C9C9"/>
    <a:srgbClr val="007787"/>
    <a:srgbClr val="FFF5D9"/>
    <a:srgbClr val="D3DCE1"/>
    <a:srgbClr val="05343B"/>
    <a:srgbClr val="FF9900"/>
    <a:srgbClr val="01BAFF"/>
    <a:srgbClr val="C0F3CA"/>
    <a:srgbClr val="BFF3CA"/>
    <a:srgbClr val="007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456B5-CFFA-4063-8027-0D83B2166849}" v="2" dt="2025-10-15T21:42:33.382"/>
    <p1510:client id="{90709AF1-839F-C241-E0CC-80319A16F15D}" v="2" dt="2025-10-17T13:22:36.270"/>
    <p1510:client id="{9E85590E-1BAD-41B6-9684-5A93B9111D9F}" v="4" dt="2025-10-16T13:44:08.605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296"/>
        <p:guide pos="102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Guilherme Barbosa Marzano" userId="49df7275-3a0a-4d73-b8b9-ee93458a715e" providerId="ADAL" clId="{057456B5-CFFA-4063-8027-0D83B2166849}"/>
    <pc:docChg chg="custSel modSld">
      <pc:chgData name="Luiz Guilherme Barbosa Marzano" userId="49df7275-3a0a-4d73-b8b9-ee93458a715e" providerId="ADAL" clId="{057456B5-CFFA-4063-8027-0D83B2166849}" dt="2025-10-15T21:42:33.382" v="237"/>
      <pc:docMkLst>
        <pc:docMk/>
      </pc:docMkLst>
      <pc:sldChg chg="delSp modSp mod">
        <pc:chgData name="Luiz Guilherme Barbosa Marzano" userId="49df7275-3a0a-4d73-b8b9-ee93458a715e" providerId="ADAL" clId="{057456B5-CFFA-4063-8027-0D83B2166849}" dt="2025-10-15T21:28:55.029" v="25" actId="14100"/>
        <pc:sldMkLst>
          <pc:docMk/>
          <pc:sldMk cId="3261444150" sldId="8142"/>
        </pc:sldMkLst>
        <pc:spChg chg="mod">
          <ac:chgData name="Luiz Guilherme Barbosa Marzano" userId="49df7275-3a0a-4d73-b8b9-ee93458a715e" providerId="ADAL" clId="{057456B5-CFFA-4063-8027-0D83B2166849}" dt="2025-10-15T21:28:55.029" v="25" actId="14100"/>
          <ac:spMkLst>
            <pc:docMk/>
            <pc:sldMk cId="3261444150" sldId="8142"/>
            <ac:spMk id="5" creationId="{257566E9-969A-AC29-FF09-2D9D71E928D8}"/>
          </ac:spMkLst>
        </pc:spChg>
      </pc:sldChg>
      <pc:sldChg chg="addSp modSp">
        <pc:chgData name="Luiz Guilherme Barbosa Marzano" userId="49df7275-3a0a-4d73-b8b9-ee93458a715e" providerId="ADAL" clId="{057456B5-CFFA-4063-8027-0D83B2166849}" dt="2025-10-15T21:42:33.382" v="237"/>
        <pc:sldMkLst>
          <pc:docMk/>
          <pc:sldMk cId="2826773135" sldId="8370"/>
        </pc:sldMkLst>
      </pc:sldChg>
      <pc:sldChg chg="addSp modSp mod">
        <pc:chgData name="Luiz Guilherme Barbosa Marzano" userId="49df7275-3a0a-4d73-b8b9-ee93458a715e" providerId="ADAL" clId="{057456B5-CFFA-4063-8027-0D83B2166849}" dt="2025-10-15T21:42:29.562" v="236" actId="20577"/>
        <pc:sldMkLst>
          <pc:docMk/>
          <pc:sldMk cId="4013588003" sldId="8371"/>
        </pc:sldMkLst>
      </pc:sldChg>
    </pc:docChg>
  </pc:docChgLst>
  <pc:docChgLst>
    <pc:chgData name="Taissa Fernandes Silvestre" userId="9bb5cf58-ca86-425b-9166-da4f484c4d17" providerId="ADAL" clId="{9E85590E-1BAD-41B6-9684-5A93B9111D9F}"/>
    <pc:docChg chg="undo redo custSel modSld">
      <pc:chgData name="Taissa Fernandes Silvestre" userId="9bb5cf58-ca86-425b-9166-da4f484c4d17" providerId="ADAL" clId="{9E85590E-1BAD-41B6-9684-5A93B9111D9F}" dt="2025-10-16T13:44:08.605" v="69" actId="1076"/>
      <pc:docMkLst>
        <pc:docMk/>
      </pc:docMkLst>
      <pc:sldChg chg="modSp mod">
        <pc:chgData name="Taissa Fernandes Silvestre" userId="9bb5cf58-ca86-425b-9166-da4f484c4d17" providerId="ADAL" clId="{9E85590E-1BAD-41B6-9684-5A93B9111D9F}" dt="2025-10-16T11:10:51.502" v="65" actId="1036"/>
        <pc:sldMkLst>
          <pc:docMk/>
          <pc:sldMk cId="3261444150" sldId="8142"/>
        </pc:sldMkLst>
        <pc:spChg chg="mod">
          <ac:chgData name="Taissa Fernandes Silvestre" userId="9bb5cf58-ca86-425b-9166-da4f484c4d17" providerId="ADAL" clId="{9E85590E-1BAD-41B6-9684-5A93B9111D9F}" dt="2025-10-16T11:10:51.502" v="65" actId="1036"/>
          <ac:spMkLst>
            <pc:docMk/>
            <pc:sldMk cId="3261444150" sldId="8142"/>
            <ac:spMk id="3" creationId="{68CB05DC-B677-3182-97EE-2452B297841D}"/>
          </ac:spMkLst>
        </pc:spChg>
      </pc:sldChg>
      <pc:sldChg chg="delSp modSp mod">
        <pc:chgData name="Taissa Fernandes Silvestre" userId="9bb5cf58-ca86-425b-9166-da4f484c4d17" providerId="ADAL" clId="{9E85590E-1BAD-41B6-9684-5A93B9111D9F}" dt="2025-10-16T13:44:08.605" v="69" actId="1076"/>
        <pc:sldMkLst>
          <pc:docMk/>
          <pc:sldMk cId="2826773135" sldId="8370"/>
        </pc:sldMkLst>
        <pc:spChg chg="del">
          <ac:chgData name="Taissa Fernandes Silvestre" userId="9bb5cf58-ca86-425b-9166-da4f484c4d17" providerId="ADAL" clId="{9E85590E-1BAD-41B6-9684-5A93B9111D9F}" dt="2025-10-16T01:27:52.779" v="38" actId="478"/>
          <ac:spMkLst>
            <pc:docMk/>
            <pc:sldMk cId="2826773135" sldId="8370"/>
            <ac:spMk id="2" creationId="{E395B58A-688D-F39F-7956-2AF15D30E0B8}"/>
          </ac:spMkLst>
        </pc:spChg>
        <pc:spChg chg="mod">
          <ac:chgData name="Taissa Fernandes Silvestre" userId="9bb5cf58-ca86-425b-9166-da4f484c4d17" providerId="ADAL" clId="{9E85590E-1BAD-41B6-9684-5A93B9111D9F}" dt="2025-10-16T01:29:09.902" v="43" actId="1076"/>
          <ac:spMkLst>
            <pc:docMk/>
            <pc:sldMk cId="2826773135" sldId="8370"/>
            <ac:spMk id="26" creationId="{1529CF96-B779-749B-EBC8-721160EF0EBD}"/>
          </ac:spMkLst>
        </pc:spChg>
        <pc:spChg chg="mod">
          <ac:chgData name="Taissa Fernandes Silvestre" userId="9bb5cf58-ca86-425b-9166-da4f484c4d17" providerId="ADAL" clId="{9E85590E-1BAD-41B6-9684-5A93B9111D9F}" dt="2025-10-16T01:31:37.137" v="48" actId="1076"/>
          <ac:spMkLst>
            <pc:docMk/>
            <pc:sldMk cId="2826773135" sldId="8370"/>
            <ac:spMk id="27" creationId="{CCECE0B8-73C6-8E37-2A70-9BC3421BD82A}"/>
          </ac:spMkLst>
        </pc:spChg>
        <pc:picChg chg="mod">
          <ac:chgData name="Taissa Fernandes Silvestre" userId="9bb5cf58-ca86-425b-9166-da4f484c4d17" providerId="ADAL" clId="{9E85590E-1BAD-41B6-9684-5A93B9111D9F}" dt="2025-10-16T13:44:08.605" v="69" actId="1076"/>
          <ac:picMkLst>
            <pc:docMk/>
            <pc:sldMk cId="2826773135" sldId="8370"/>
            <ac:picMk id="20" creationId="{96208185-5833-66FF-BC7A-578F4999351A}"/>
          </ac:picMkLst>
        </pc:picChg>
        <pc:picChg chg="mod">
          <ac:chgData name="Taissa Fernandes Silvestre" userId="9bb5cf58-ca86-425b-9166-da4f484c4d17" providerId="ADAL" clId="{9E85590E-1BAD-41B6-9684-5A93B9111D9F}" dt="2025-10-16T01:33:58.059" v="56" actId="14826"/>
          <ac:picMkLst>
            <pc:docMk/>
            <pc:sldMk cId="2826773135" sldId="8370"/>
            <ac:picMk id="21" creationId="{50AAC0F3-D091-BC5B-D852-50854B308953}"/>
          </ac:picMkLst>
        </pc:picChg>
        <pc:picChg chg="mod modCrop">
          <ac:chgData name="Taissa Fernandes Silvestre" userId="9bb5cf58-ca86-425b-9166-da4f484c4d17" providerId="ADAL" clId="{9E85590E-1BAD-41B6-9684-5A93B9111D9F}" dt="2025-10-16T01:33:37.571" v="55" actId="732"/>
          <ac:picMkLst>
            <pc:docMk/>
            <pc:sldMk cId="2826773135" sldId="8370"/>
            <ac:picMk id="23" creationId="{D65AA463-1B34-B268-84A4-07BE69DA4C30}"/>
          </ac:picMkLst>
        </pc:picChg>
        <pc:picChg chg="mod">
          <ac:chgData name="Taissa Fernandes Silvestre" userId="9bb5cf58-ca86-425b-9166-da4f484c4d17" providerId="ADAL" clId="{9E85590E-1BAD-41B6-9684-5A93B9111D9F}" dt="2025-10-16T01:30:04.174" v="45" actId="14826"/>
          <ac:picMkLst>
            <pc:docMk/>
            <pc:sldMk cId="2826773135" sldId="8370"/>
            <ac:picMk id="25" creationId="{23F26E81-6DB6-CFFE-460D-646E3A7F429C}"/>
          </ac:picMkLst>
        </pc:picChg>
      </pc:sldChg>
      <pc:sldChg chg="addSp delSp modSp mod">
        <pc:chgData name="Taissa Fernandes Silvestre" userId="9bb5cf58-ca86-425b-9166-da4f484c4d17" providerId="ADAL" clId="{9E85590E-1BAD-41B6-9684-5A93B9111D9F}" dt="2025-10-16T01:36:12.772" v="64" actId="732"/>
        <pc:sldMkLst>
          <pc:docMk/>
          <pc:sldMk cId="4013588003" sldId="8371"/>
        </pc:sldMkLst>
        <pc:spChg chg="add del">
          <ac:chgData name="Taissa Fernandes Silvestre" userId="9bb5cf58-ca86-425b-9166-da4f484c4d17" providerId="ADAL" clId="{9E85590E-1BAD-41B6-9684-5A93B9111D9F}" dt="2025-10-16T01:17:23.603" v="26" actId="478"/>
          <ac:spMkLst>
            <pc:docMk/>
            <pc:sldMk cId="4013588003" sldId="8371"/>
            <ac:spMk id="2" creationId="{1C1F11E6-D1A3-AE4C-E113-A48D88D0C7FD}"/>
          </ac:spMkLst>
        </pc:spChg>
        <pc:spChg chg="mod">
          <ac:chgData name="Taissa Fernandes Silvestre" userId="9bb5cf58-ca86-425b-9166-da4f484c4d17" providerId="ADAL" clId="{9E85590E-1BAD-41B6-9684-5A93B9111D9F}" dt="2025-10-16T01:27:21.864" v="37" actId="1076"/>
          <ac:spMkLst>
            <pc:docMk/>
            <pc:sldMk cId="4013588003" sldId="8371"/>
            <ac:spMk id="27" creationId="{5357BBAB-7B69-2A91-5BEB-9B2839297327}"/>
          </ac:spMkLst>
        </pc:spChg>
        <pc:picChg chg="mod">
          <ac:chgData name="Taissa Fernandes Silvestre" userId="9bb5cf58-ca86-425b-9166-da4f484c4d17" providerId="ADAL" clId="{9E85590E-1BAD-41B6-9684-5A93B9111D9F}" dt="2025-10-16T01:35:32.658" v="62" actId="1076"/>
          <ac:picMkLst>
            <pc:docMk/>
            <pc:sldMk cId="4013588003" sldId="8371"/>
            <ac:picMk id="3" creationId="{41DE7025-9F19-19EA-D8AD-A2CE5AD51705}"/>
          </ac:picMkLst>
        </pc:picChg>
        <pc:picChg chg="mod modCrop">
          <ac:chgData name="Taissa Fernandes Silvestre" userId="9bb5cf58-ca86-425b-9166-da4f484c4d17" providerId="ADAL" clId="{9E85590E-1BAD-41B6-9684-5A93B9111D9F}" dt="2025-10-16T01:36:12.772" v="64" actId="732"/>
          <ac:picMkLst>
            <pc:docMk/>
            <pc:sldMk cId="4013588003" sldId="8371"/>
            <ac:picMk id="4" creationId="{0E258666-6AF0-338E-017E-CF0F7247B97D}"/>
          </ac:picMkLst>
        </pc:picChg>
        <pc:picChg chg="add del mod ord modCrop">
          <ac:chgData name="Taissa Fernandes Silvestre" userId="9bb5cf58-ca86-425b-9166-da4f484c4d17" providerId="ADAL" clId="{9E85590E-1BAD-41B6-9684-5A93B9111D9F}" dt="2025-10-16T01:35:04.684" v="60" actId="732"/>
          <ac:picMkLst>
            <pc:docMk/>
            <pc:sldMk cId="4013588003" sldId="8371"/>
            <ac:picMk id="5" creationId="{499D1C1F-0F3F-0030-4C88-B44A9D57F448}"/>
          </ac:picMkLst>
        </pc:picChg>
        <pc:picChg chg="mod">
          <ac:chgData name="Taissa Fernandes Silvestre" userId="9bb5cf58-ca86-425b-9166-da4f484c4d17" providerId="ADAL" clId="{9E85590E-1BAD-41B6-9684-5A93B9111D9F}" dt="2025-10-16T01:29:47.253" v="44" actId="14826"/>
          <ac:picMkLst>
            <pc:docMk/>
            <pc:sldMk cId="4013588003" sldId="8371"/>
            <ac:picMk id="25" creationId="{45A232C3-E254-669D-8030-99BDE807C2E6}"/>
          </ac:picMkLst>
        </pc:picChg>
      </pc:sldChg>
    </pc:docChg>
  </pc:docChgLst>
  <pc:docChgLst>
    <pc:chgData name="LUAN FILIPE DOS SANTOS COLOMBARI" userId="S::luan.colombari@ons.org.br::a0269b07-35dd-4f47-8e23-fadde69ea77d" providerId="AD" clId="Web-{90709AF1-839F-C241-E0CC-80319A16F15D}"/>
    <pc:docChg chg="sldOrd">
      <pc:chgData name="LUAN FILIPE DOS SANTOS COLOMBARI" userId="S::luan.colombari@ons.org.br::a0269b07-35dd-4f47-8e23-fadde69ea77d" providerId="AD" clId="Web-{90709AF1-839F-C241-E0CC-80319A16F15D}" dt="2025-10-17T13:22:36.270" v="1"/>
      <pc:docMkLst>
        <pc:docMk/>
      </pc:docMkLst>
      <pc:sldChg chg="ord">
        <pc:chgData name="LUAN FILIPE DOS SANTOS COLOMBARI" userId="S::luan.colombari@ons.org.br::a0269b07-35dd-4f47-8e23-fadde69ea77d" providerId="AD" clId="Web-{90709AF1-839F-C241-E0CC-80319A16F15D}" dt="2025-10-17T13:22:36.270" v="1"/>
        <pc:sldMkLst>
          <pc:docMk/>
          <pc:sldMk cId="2437026414" sldId="83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72D48-A829-7C4C-8420-58E059D447CC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2C1C6-8BEF-7244-B20B-9C1F13B4B4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A2C48-C6C9-4C37-8D94-0E76D3BB26B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49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ADCA-ADDA-5709-45E4-664871E4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D7AC39-A226-90C2-BE6F-5E0F37DD6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0DD6B5-0620-3EF1-9354-24C2CEEA6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B6C0A6-2C9C-5CD0-182B-C7F0AE844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710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16A6-097B-09BE-B2F3-B964A66F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AC6463-743E-A6D1-DC5B-D739CEFEB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2DBE0C-3A02-1027-05AF-BBBF414E6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>
                <a:solidFill>
                  <a:schemeClr val="tx1"/>
                </a:solidFill>
                <a:latin typeface="Calibri "/>
              </a:rPr>
              <a:t>Submódulo 3.1 </a:t>
            </a:r>
            <a:r>
              <a:rPr lang="pt-BR" sz="1200">
                <a:solidFill>
                  <a:schemeClr val="tx1"/>
                </a:solidFill>
                <a:latin typeface="Calibri "/>
              </a:rPr>
              <a:t>– Os estudos do PAR/PEL consideram </a:t>
            </a:r>
            <a:r>
              <a:rPr lang="pt-BR" i="1">
                <a:effectLst/>
              </a:rPr>
              <a:t>o conjunto de geradores constituído pelas usinas existentes, </a:t>
            </a:r>
            <a:r>
              <a:rPr lang="pt-BR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usinas novas com contratos de concessão, autorização ou solicitações de acesso formalizadas junto ao ONS, centrais geradoras integrantes de programas estabelecidos pelo MME</a:t>
            </a:r>
            <a:r>
              <a:rPr lang="pt-BR" b="0" i="1">
                <a:effectLst/>
              </a:rPr>
              <a:t> e os intercâmbios contratados em interligações internacionais</a:t>
            </a:r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B4F10D-B802-D605-26F3-56B943E9A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867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9EAA-7FF3-E417-35AD-0874AE40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582E20-6FC1-697B-55D0-DE9EB7BBE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0220490-6027-9125-DA9F-A400196AA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522C14-0954-0915-5E27-BB534EC95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558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176B-D7D3-4A78-6A8F-3E09930B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BFC2BB-17F5-B4A4-16EA-46CB3E02F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B3EACB-1350-9700-D426-B0B552D9A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D77F8A-52DB-C894-771A-7A33DA210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904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0E0B-B424-02B9-74A0-0E999FBA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2A01DB-3141-A59B-3A44-ED1ECC1FC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EECECE8-5AAC-D069-64B6-D62954C65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1FA53C-4225-644B-5717-0D9962414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413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77830-5684-6723-3810-C7C50C7E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5AD340-E2E9-34EC-C331-F8D651096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6DA641-6D52-0EC5-2072-9CFBD3FF4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BA373B-6754-8458-4041-61C2C3028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242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C28D7-312D-1B7E-9070-DA855BB7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AD14A6-9ED4-5511-4580-0D6D0F951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DBB945-7841-5DEC-52B4-F491EE9C9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6830E1-9750-44A7-31F1-D6C698F92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524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3AF8-AF3A-A034-E75F-197F043C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5460E8-D5D2-9084-DAB1-6217586BE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135331-F193-6E1B-6F93-82631799E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22B378-5D5D-5441-E708-81A2A9F16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347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5AB5-F4A2-9D71-C8E2-1903D1C1B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6B92F6-2C91-EC17-E631-F0AEFAFB6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0B016D-5885-2DD8-6CC0-13C0736E4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644506-BA91-0E1A-6488-C409B7B5B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EF50C-ECA7-4C6E-BBC7-585538501F0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809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2A2C48-C6C9-4C37-8D94-0E76D3BB26B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12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48F4-205F-D2F1-5A31-2929B3AE0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0E987-D785-7D46-4AC8-6B6D86FEA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F8080-4E9B-EC1F-7CEE-D7E0956E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87126-B86E-6CDB-6114-E7320492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94AE-547B-C1AF-C04F-24D6546D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63807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68D4-C305-520B-B99F-7AAC87FE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AE0B-618B-91DA-A11A-2C75DA49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76072-D473-944C-A4A1-6E60B6A5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BDDA-BB7B-AEFA-80CA-A45E369C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2985-5E9A-E22C-0878-2C5A66F1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8903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062E-6423-452C-2D5B-B812432D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AA3BF-71E9-DCA3-5CD8-E4DA737C9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23953-5EA2-3F85-2340-13AE53D7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CCEE-5797-1759-79DF-4425DBB9D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DC159-D2C1-C812-8709-AA48B0C7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4214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A71F-D6E9-ACFF-B08F-8C179AA67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B1C57-351E-40C8-F3D8-F4ECB7A7E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F99A-ACD3-BBA3-2A38-C59624B63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52795-6B4A-9BD7-4E1E-B925E5D4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8045D-0888-921E-75A7-F587EAE5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DF9EC-5526-035B-C373-E6599059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632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A596-6143-E448-8E04-5E0517C3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7BF30-1F42-05E0-BA0B-472F9370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1F74B-E764-0DDB-93DA-EEAC6DE88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EF2B9-3CA6-4861-2EF9-1B16D3EE2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B00ED-FFD8-3A51-909A-D9A23EDAB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9AD80-014C-2E32-ACA6-3FF11DFF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12CD8-B646-95E9-CE17-392FA4AA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D980C-37AB-0519-AE0B-74046F46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6359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FED1-1796-1740-303F-8147D2B9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81627-23E0-E2BA-5AAA-204C200D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F739E-573E-5270-B90B-7EE62603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89891-F910-BACF-1719-075B1E0E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3933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43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A8B6-4F02-0196-C76F-A120B654F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710D-218D-54E5-19CC-8D82B53B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F9BF5-A721-5DD5-FDB8-EEB13BD66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AEC90-A999-8D2A-699C-4CFB6403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29EE4-49DF-DAD4-2AD4-2F261629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7ED77-6F15-179A-C898-3C4548E91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8108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A549-FDE7-8F2A-5F12-5623FF04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5BD3E-6178-CF98-C56B-1B81A7FB5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91310-F14C-7940-B306-6F364E0A2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1E6E8-4D0A-A8BF-E5AD-07DAB327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2DE1E-B02B-69CC-F686-0887318A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FBADB-0EED-D590-E814-F4F22E66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1725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43B3-9647-37A4-7C4E-8C928F5E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0693A-8C3B-C77C-19F1-302C2C16F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5E168-099F-A0AB-F788-C34864D6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18ACE-283C-871A-189F-948A565C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602D-99F8-EBCC-D517-A9C0D0A2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04485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1D9EB-F664-25D0-E177-4C0BC761A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D5AF7-43C5-FC4A-601F-F4FD87F50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71CA-EA3E-F41B-F719-4787E515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B1D57-4457-86F2-2F1B-AFEDF6C6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BD999-6DEB-0ECF-9F79-AE20314D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65450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42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35297-1CA3-208D-92CA-669948EC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CC0EC-5E2A-0CB7-191C-C60C107F5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4E7E-0734-B173-BACA-D82A9B869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CC618-22D7-B44B-A92D-14078D386CED}" type="datetimeFigureOut">
              <a:rPr lang="en-BR" smtClean="0"/>
              <a:t>10/17/2025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943A-7287-AB1D-F4EF-56C8A345C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1C05B-FA22-CB17-41A1-9F792D9E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551E4-E1E2-8643-8049-4DE2F56A188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9955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Fundo preto com letras brancas&#10;&#10;Descrição gerada automaticamente">
            <a:extLst>
              <a:ext uri="{FF2B5EF4-FFF2-40B4-BE49-F238E27FC236}">
                <a16:creationId xmlns:a16="http://schemas.microsoft.com/office/drawing/2014/main" id="{E0F979E1-3AA0-3778-B937-25D6E51B42A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0694" y="177489"/>
            <a:ext cx="6825033" cy="652719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8CB05DC-B677-3182-97EE-2452B297841D}"/>
              </a:ext>
            </a:extLst>
          </p:cNvPr>
          <p:cNvSpPr/>
          <p:nvPr/>
        </p:nvSpPr>
        <p:spPr>
          <a:xfrm>
            <a:off x="-1" y="9144"/>
            <a:ext cx="12192001" cy="6858000"/>
          </a:xfrm>
          <a:prstGeom prst="rect">
            <a:avLst/>
          </a:prstGeom>
          <a:solidFill>
            <a:srgbClr val="0534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1DF9F-9DD3-2A24-0C42-0B9152357226}"/>
              </a:ext>
            </a:extLst>
          </p:cNvPr>
          <p:cNvSpPr txBox="1"/>
          <p:nvPr/>
        </p:nvSpPr>
        <p:spPr>
          <a:xfrm>
            <a:off x="313055" y="3080648"/>
            <a:ext cx="9961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rgbClr val="BFF3CA"/>
                </a:solidFill>
                <a:latin typeface="Univers" panose="020B0503020202020204" pitchFamily="34" charset="0"/>
                <a:cs typeface="Arial" panose="020B0604020202020204" pitchFamily="34" charset="0"/>
              </a:rPr>
              <a:t>Avaliação da Coerência entre Bases de Dados de Geração de Estudos Elétricos e Energéticos </a:t>
            </a:r>
          </a:p>
        </p:txBody>
      </p:sp>
      <p:pic>
        <p:nvPicPr>
          <p:cNvPr id="19" name="Imagem 18" descr="Uma imagem contendo Logotipo&#10;&#10;Descrição gerada automaticamente">
            <a:extLst>
              <a:ext uri="{FF2B5EF4-FFF2-40B4-BE49-F238E27FC236}">
                <a16:creationId xmlns:a16="http://schemas.microsoft.com/office/drawing/2014/main" id="{243C96CE-3121-9535-56D6-177C5F2DAB0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055" y="389921"/>
            <a:ext cx="2856334" cy="882575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257566E9-969A-AC29-FF09-2D9D71E928D8}"/>
              </a:ext>
            </a:extLst>
          </p:cNvPr>
          <p:cNvSpPr txBox="1"/>
          <p:nvPr/>
        </p:nvSpPr>
        <p:spPr>
          <a:xfrm>
            <a:off x="8125385" y="6227343"/>
            <a:ext cx="37343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800">
                <a:solidFill>
                  <a:schemeClr val="bg1"/>
                </a:solidFill>
                <a:latin typeface="Arial"/>
                <a:ea typeface="+mj-ea"/>
                <a:cs typeface="Arial"/>
              </a:rPr>
              <a:t>                   </a:t>
            </a:r>
            <a:r>
              <a:rPr lang="pt-BR">
                <a:solidFill>
                  <a:schemeClr val="bg1"/>
                </a:solidFill>
                <a:latin typeface="Arial"/>
                <a:ea typeface="+mj-ea"/>
                <a:cs typeface="Arial"/>
              </a:rPr>
              <a:t>16 de outubro</a:t>
            </a:r>
            <a:r>
              <a:rPr lang="pt-BR" sz="1800">
                <a:solidFill>
                  <a:schemeClr val="bg1"/>
                </a:solidFill>
                <a:latin typeface="Arial"/>
                <a:ea typeface="+mj-ea"/>
                <a:cs typeface="Arial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6144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821B3-2061-B7DC-4047-6C4B98E4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00BD8AB0-D45F-3A12-7755-AF16A84F33F6}"/>
              </a:ext>
            </a:extLst>
          </p:cNvPr>
          <p:cNvSpPr/>
          <p:nvPr/>
        </p:nvSpPr>
        <p:spPr>
          <a:xfrm>
            <a:off x="99589" y="131366"/>
            <a:ext cx="11969038" cy="1044644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Motivação – Matriz de Energia Elétrica</a:t>
            </a:r>
          </a:p>
          <a:p>
            <a:pPr>
              <a:defRPr/>
            </a:pP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Ref.: Maio de 2025</a:t>
            </a:r>
            <a:endParaRPr lang="pt-BR" sz="2800" b="1">
              <a:solidFill>
                <a:srgbClr val="BFF3CA"/>
              </a:solidFill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3F8A86-458A-2C0E-F1D1-24A19692A455}"/>
              </a:ext>
            </a:extLst>
          </p:cNvPr>
          <p:cNvSpPr txBox="1"/>
          <p:nvPr/>
        </p:nvSpPr>
        <p:spPr>
          <a:xfrm>
            <a:off x="916789" y="1215758"/>
            <a:ext cx="3338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Estudos Energéticos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56F842B-FDE3-09CF-B4EE-42793FDC9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16" y="2545182"/>
            <a:ext cx="5795843" cy="41301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0133F9-F0B3-DFF0-4ED3-CEE929C22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1" y="2657354"/>
            <a:ext cx="6381317" cy="389904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53548E0-811A-3B7E-F8AA-309F6CABF213}"/>
              </a:ext>
            </a:extLst>
          </p:cNvPr>
          <p:cNvSpPr txBox="1"/>
          <p:nvPr/>
        </p:nvSpPr>
        <p:spPr>
          <a:xfrm>
            <a:off x="7273678" y="1213551"/>
            <a:ext cx="3035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Estudos Elétricos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67798A-BF80-B537-4E32-C95517A16C97}"/>
              </a:ext>
            </a:extLst>
          </p:cNvPr>
          <p:cNvSpPr txBox="1"/>
          <p:nvPr/>
        </p:nvSpPr>
        <p:spPr>
          <a:xfrm>
            <a:off x="1115569" y="1758778"/>
            <a:ext cx="1296000" cy="6463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Mai/2025</a:t>
            </a:r>
          </a:p>
          <a:p>
            <a:pPr algn="ctr"/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236,7 GW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5D44D4C-531E-E00D-6D55-0DB71D51C751}"/>
              </a:ext>
            </a:extLst>
          </p:cNvPr>
          <p:cNvSpPr txBox="1"/>
          <p:nvPr/>
        </p:nvSpPr>
        <p:spPr>
          <a:xfrm>
            <a:off x="2880465" y="1757943"/>
            <a:ext cx="1296000" cy="64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Dez/2029</a:t>
            </a:r>
          </a:p>
          <a:p>
            <a:pPr algn="ctr"/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268 GW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9F7C3C-8FE6-0217-BDC3-AD114CD020EE}"/>
              </a:ext>
            </a:extLst>
          </p:cNvPr>
          <p:cNvSpPr txBox="1"/>
          <p:nvPr/>
        </p:nvSpPr>
        <p:spPr>
          <a:xfrm>
            <a:off x="7273678" y="1758465"/>
            <a:ext cx="1296000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Mai/2025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247,7 GW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995F5F-2403-99F7-2719-80D12201BD1C}"/>
              </a:ext>
            </a:extLst>
          </p:cNvPr>
          <p:cNvSpPr txBox="1"/>
          <p:nvPr/>
        </p:nvSpPr>
        <p:spPr>
          <a:xfrm>
            <a:off x="9038045" y="1757630"/>
            <a:ext cx="1296000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Dez/2029</a:t>
            </a:r>
            <a:endParaRPr kumimoji="0" lang="pt-B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299,4 GW</a:t>
            </a:r>
          </a:p>
        </p:txBody>
      </p:sp>
    </p:spTree>
    <p:extLst>
      <p:ext uri="{BB962C8B-B14F-4D97-AF65-F5344CB8AC3E}">
        <p14:creationId xmlns:p14="http://schemas.microsoft.com/office/powerpoint/2010/main" val="33501719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CC4C6-A8E4-3FBF-3E6E-203CA5C4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Arredondado 56">
            <a:extLst>
              <a:ext uri="{FF2B5EF4-FFF2-40B4-BE49-F238E27FC236}">
                <a16:creationId xmlns:a16="http://schemas.microsoft.com/office/drawing/2014/main" id="{029E3FED-7B19-990A-4FDD-B14773915692}"/>
              </a:ext>
            </a:extLst>
          </p:cNvPr>
          <p:cNvSpPr/>
          <p:nvPr/>
        </p:nvSpPr>
        <p:spPr>
          <a:xfrm>
            <a:off x="6139024" y="4250583"/>
            <a:ext cx="5929603" cy="2497316"/>
          </a:xfrm>
          <a:prstGeom prst="roundRect">
            <a:avLst>
              <a:gd name="adj" fmla="val 14941"/>
            </a:avLst>
          </a:prstGeom>
          <a:solidFill>
            <a:schemeClr val="accent2">
              <a:lumMod val="40000"/>
              <a:lumOff val="60000"/>
              <a:alpha val="76805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C7F0231C-4AAF-FB8D-E61C-2EBDBA35E8D4}"/>
              </a:ext>
            </a:extLst>
          </p:cNvPr>
          <p:cNvSpPr/>
          <p:nvPr/>
        </p:nvSpPr>
        <p:spPr>
          <a:xfrm>
            <a:off x="6136747" y="4036302"/>
            <a:ext cx="5929602" cy="728785"/>
          </a:xfrm>
          <a:prstGeom prst="roundRect">
            <a:avLst>
              <a:gd name="adj" fmla="val 36238"/>
            </a:avLst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E613CC9A-4541-2E2C-E281-F2218DB3047F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6870472" y="1434489"/>
            <a:ext cx="22325" cy="1157689"/>
          </a:xfrm>
          <a:prstGeom prst="line">
            <a:avLst/>
          </a:prstGeom>
          <a:ln w="285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áfico 61" descr="Seta de linha: reta com preenchimento sólido">
            <a:extLst>
              <a:ext uri="{FF2B5EF4-FFF2-40B4-BE49-F238E27FC236}">
                <a16:creationId xmlns:a16="http://schemas.microsoft.com/office/drawing/2014/main" id="{28844FA6-DBAF-5F5E-D689-8B2AF5C65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979490" y="1654850"/>
            <a:ext cx="914400" cy="914400"/>
          </a:xfrm>
          <a:prstGeom prst="rect">
            <a:avLst/>
          </a:prstGeom>
          <a:effectLst/>
        </p:spPr>
      </p:pic>
      <p:pic>
        <p:nvPicPr>
          <p:cNvPr id="47" name="Gráfico 46" descr="Seta de linha: reta com preenchimento sólido">
            <a:extLst>
              <a:ext uri="{FF2B5EF4-FFF2-40B4-BE49-F238E27FC236}">
                <a16:creationId xmlns:a16="http://schemas.microsoft.com/office/drawing/2014/main" id="{62234871-0291-F70B-3E79-0715CC96E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0981" y="1654850"/>
            <a:ext cx="914400" cy="914400"/>
          </a:xfrm>
          <a:prstGeom prst="rect">
            <a:avLst/>
          </a:prstGeom>
        </p:spPr>
      </p:pic>
      <p:pic>
        <p:nvPicPr>
          <p:cNvPr id="49" name="Gráfico 48" descr="Seta de linha: reta com preenchimento sólido">
            <a:extLst>
              <a:ext uri="{FF2B5EF4-FFF2-40B4-BE49-F238E27FC236}">
                <a16:creationId xmlns:a16="http://schemas.microsoft.com/office/drawing/2014/main" id="{324C8C47-8360-874E-08AE-241168E55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0981" y="3499557"/>
            <a:ext cx="914400" cy="914400"/>
          </a:xfrm>
          <a:prstGeom prst="rect">
            <a:avLst/>
          </a:prstGeom>
        </p:spPr>
      </p:pic>
      <p:pic>
        <p:nvPicPr>
          <p:cNvPr id="50" name="Gráfico 49" descr="Seta de linha: reta com preenchimento sólido">
            <a:extLst>
              <a:ext uri="{FF2B5EF4-FFF2-40B4-BE49-F238E27FC236}">
                <a16:creationId xmlns:a16="http://schemas.microsoft.com/office/drawing/2014/main" id="{A9539828-758E-AB1C-DD61-DB88D876D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0981" y="5494608"/>
            <a:ext cx="914400" cy="914400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40829748-A9E6-2C54-1D5B-BCB92E57BD5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112217" y="1504177"/>
            <a:ext cx="31283" cy="4576583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88976208-3840-864E-79E1-6231F7DB95DA}"/>
              </a:ext>
            </a:extLst>
          </p:cNvPr>
          <p:cNvSpPr/>
          <p:nvPr/>
        </p:nvSpPr>
        <p:spPr>
          <a:xfrm>
            <a:off x="123372" y="92377"/>
            <a:ext cx="11942977" cy="900027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9C4008F0-4283-6EAB-B1E0-1C0075C2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994" y="135817"/>
            <a:ext cx="11868737" cy="745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Mapeamento regulatório:</a:t>
            </a:r>
          </a:p>
          <a:p>
            <a:r>
              <a:rPr lang="pt-BR" sz="2000">
                <a:solidFill>
                  <a:srgbClr val="BFF3CA"/>
                </a:solidFill>
                <a:latin typeface="Arial"/>
                <a:cs typeface="Arial"/>
              </a:rPr>
              <a:t>Base de dados de expansão da oferta de geração - Visão Geral</a:t>
            </a:r>
          </a:p>
        </p:txBody>
      </p: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46BE681F-7D04-87B8-9C33-E2293EDD23EE}"/>
              </a:ext>
            </a:extLst>
          </p:cNvPr>
          <p:cNvSpPr/>
          <p:nvPr/>
        </p:nvSpPr>
        <p:spPr>
          <a:xfrm>
            <a:off x="123373" y="1644082"/>
            <a:ext cx="3957137" cy="1177618"/>
          </a:xfrm>
          <a:prstGeom prst="roundRect">
            <a:avLst>
              <a:gd name="adj" fmla="val 14941"/>
            </a:avLst>
          </a:prstGeom>
          <a:solidFill>
            <a:srgbClr val="C0F3CA">
              <a:alpha val="76805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18C92D6B-1F4C-1DFB-BE31-39D1D9EC8DDC}"/>
              </a:ext>
            </a:extLst>
          </p:cNvPr>
          <p:cNvSpPr/>
          <p:nvPr/>
        </p:nvSpPr>
        <p:spPr>
          <a:xfrm>
            <a:off x="4378492" y="1127875"/>
            <a:ext cx="1467450" cy="444177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DF055916-C5AD-50FA-F6D4-39FABC2049F8}"/>
              </a:ext>
            </a:extLst>
          </p:cNvPr>
          <p:cNvSpPr/>
          <p:nvPr/>
        </p:nvSpPr>
        <p:spPr>
          <a:xfrm>
            <a:off x="6139024" y="1127875"/>
            <a:ext cx="1480815" cy="44417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41F79-0EEF-16A4-72E7-AF6ACF869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492" y="1127875"/>
            <a:ext cx="1467450" cy="376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pPr algn="ctr"/>
            <a:r>
              <a:rPr lang="pt-BR" sz="2000" b="1">
                <a:solidFill>
                  <a:srgbClr val="C0F3CA"/>
                </a:solidFill>
                <a:latin typeface="Arial"/>
                <a:cs typeface="Arial"/>
              </a:rPr>
              <a:t>PEN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C0F3CA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0720AF7-3099-8999-0576-1B19B18B5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2390" y="1127875"/>
            <a:ext cx="1480815" cy="376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pPr algn="ctr"/>
            <a:r>
              <a:rPr lang="pt-BR" sz="2000" b="1">
                <a:solidFill>
                  <a:srgbClr val="C0F3CA"/>
                </a:solidFill>
                <a:latin typeface="Arial"/>
                <a:cs typeface="Arial"/>
              </a:rPr>
              <a:t>PAR / PEL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C0F3CA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2E96C90D-B9EE-784A-EA11-FB6AED8A59B5}"/>
              </a:ext>
            </a:extLst>
          </p:cNvPr>
          <p:cNvSpPr/>
          <p:nvPr/>
        </p:nvSpPr>
        <p:spPr>
          <a:xfrm>
            <a:off x="123373" y="2961953"/>
            <a:ext cx="3957137" cy="2261978"/>
          </a:xfrm>
          <a:prstGeom prst="roundRect">
            <a:avLst>
              <a:gd name="adj" fmla="val 11383"/>
            </a:avLst>
          </a:prstGeom>
          <a:solidFill>
            <a:schemeClr val="bg1">
              <a:alpha val="7680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BCB59B58-A131-FFE8-E850-865B864293DA}"/>
              </a:ext>
            </a:extLst>
          </p:cNvPr>
          <p:cNvSpPr/>
          <p:nvPr/>
        </p:nvSpPr>
        <p:spPr>
          <a:xfrm>
            <a:off x="123372" y="5383529"/>
            <a:ext cx="3957137" cy="1364370"/>
          </a:xfrm>
          <a:prstGeom prst="roundRect">
            <a:avLst>
              <a:gd name="adj" fmla="val 14941"/>
            </a:avLst>
          </a:prstGeom>
          <a:solidFill>
            <a:srgbClr val="FFF5D9">
              <a:alpha val="76805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A6177D25-EDE1-84EE-2D58-2A7E9EE91F18}"/>
              </a:ext>
            </a:extLst>
          </p:cNvPr>
          <p:cNvGrpSpPr/>
          <p:nvPr/>
        </p:nvGrpSpPr>
        <p:grpSpPr>
          <a:xfrm>
            <a:off x="4378492" y="1695571"/>
            <a:ext cx="1467450" cy="917156"/>
            <a:chOff x="1197461" y="1149336"/>
            <a:chExt cx="1467450" cy="917156"/>
          </a:xfrm>
          <a:solidFill>
            <a:schemeClr val="accent5">
              <a:lumMod val="50000"/>
            </a:schemeClr>
          </a:solidFill>
        </p:grpSpPr>
        <p:sp>
          <p:nvSpPr>
            <p:cNvPr id="18" name="Retângulo Arredondado 17">
              <a:extLst>
                <a:ext uri="{FF2B5EF4-FFF2-40B4-BE49-F238E27FC236}">
                  <a16:creationId xmlns:a16="http://schemas.microsoft.com/office/drawing/2014/main" id="{BB19EBA3-6A00-464B-E85C-9D33EF703112}"/>
                </a:ext>
              </a:extLst>
            </p:cNvPr>
            <p:cNvSpPr/>
            <p:nvPr/>
          </p:nvSpPr>
          <p:spPr>
            <a:xfrm>
              <a:off x="1197461" y="1149336"/>
              <a:ext cx="1467450" cy="917156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b="1">
                <a:solidFill>
                  <a:srgbClr val="C0F3CA"/>
                </a:solidFill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37A792E-FC99-5308-4219-A50EEF5DFE98}"/>
                </a:ext>
              </a:extLst>
            </p:cNvPr>
            <p:cNvSpPr txBox="1"/>
            <p:nvPr/>
          </p:nvSpPr>
          <p:spPr>
            <a:xfrm>
              <a:off x="1224324" y="1176199"/>
              <a:ext cx="1413724" cy="86343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b="1" kern="1200">
                  <a:solidFill>
                    <a:srgbClr val="C0F3CA"/>
                  </a:solidFill>
                </a:rPr>
                <a:t>Resolução CNPE nº 01/2024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75A3FB3-EA80-51BC-9B36-8D9AF47FF8D8}"/>
              </a:ext>
            </a:extLst>
          </p:cNvPr>
          <p:cNvGrpSpPr/>
          <p:nvPr/>
        </p:nvGrpSpPr>
        <p:grpSpPr>
          <a:xfrm>
            <a:off x="4378492" y="3447985"/>
            <a:ext cx="1467450" cy="917156"/>
            <a:chOff x="1197461" y="2295782"/>
            <a:chExt cx="1467450" cy="917156"/>
          </a:xfrm>
          <a:solidFill>
            <a:schemeClr val="accent5">
              <a:lumMod val="50000"/>
            </a:schemeClr>
          </a:solidFill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7C92C506-542F-C2EA-11CA-6A58972CF150}"/>
                </a:ext>
              </a:extLst>
            </p:cNvPr>
            <p:cNvSpPr/>
            <p:nvPr/>
          </p:nvSpPr>
          <p:spPr>
            <a:xfrm>
              <a:off x="1197461" y="2295782"/>
              <a:ext cx="1467450" cy="917156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b="1">
                <a:solidFill>
                  <a:srgbClr val="C0F3CA"/>
                </a:solidFill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26BA838-8842-430C-D512-DB21C935DAC9}"/>
                </a:ext>
              </a:extLst>
            </p:cNvPr>
            <p:cNvSpPr txBox="1"/>
            <p:nvPr/>
          </p:nvSpPr>
          <p:spPr>
            <a:xfrm>
              <a:off x="1224324" y="2322645"/>
              <a:ext cx="1413724" cy="86343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b="1" kern="1200">
                  <a:solidFill>
                    <a:srgbClr val="C0F3CA"/>
                  </a:solidFill>
                </a:rPr>
                <a:t>Procedimentos de Rede </a:t>
              </a:r>
              <a:endParaRPr lang="pt-BR" sz="1400" b="1" kern="1200">
                <a:solidFill>
                  <a:srgbClr val="C0F3CA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612BB75-F181-33FD-F24A-924E81EE0B43}"/>
              </a:ext>
            </a:extLst>
          </p:cNvPr>
          <p:cNvGrpSpPr/>
          <p:nvPr/>
        </p:nvGrpSpPr>
        <p:grpSpPr>
          <a:xfrm>
            <a:off x="4405355" y="5493230"/>
            <a:ext cx="1467450" cy="917156"/>
            <a:chOff x="1197461" y="3442228"/>
            <a:chExt cx="1467450" cy="917156"/>
          </a:xfrm>
          <a:solidFill>
            <a:schemeClr val="accent5">
              <a:lumMod val="50000"/>
            </a:schemeClr>
          </a:solidFill>
        </p:grpSpPr>
        <p:sp>
          <p:nvSpPr>
            <p:cNvPr id="14" name="Retângulo Arredondado 13">
              <a:extLst>
                <a:ext uri="{FF2B5EF4-FFF2-40B4-BE49-F238E27FC236}">
                  <a16:creationId xmlns:a16="http://schemas.microsoft.com/office/drawing/2014/main" id="{6CAC28E0-F05F-1F23-8F67-7DFB56E5BACB}"/>
                </a:ext>
              </a:extLst>
            </p:cNvPr>
            <p:cNvSpPr/>
            <p:nvPr/>
          </p:nvSpPr>
          <p:spPr>
            <a:xfrm>
              <a:off x="1197461" y="3442228"/>
              <a:ext cx="1467450" cy="917156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b="1">
                <a:solidFill>
                  <a:srgbClr val="C0F3CA"/>
                </a:solidFill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0DB47A9-0C55-41C4-BE9E-A20F253CD0F6}"/>
                </a:ext>
              </a:extLst>
            </p:cNvPr>
            <p:cNvSpPr txBox="1"/>
            <p:nvPr/>
          </p:nvSpPr>
          <p:spPr>
            <a:xfrm>
              <a:off x="1224324" y="3469091"/>
              <a:ext cx="1413724" cy="86343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b="1" kern="1200">
                  <a:solidFill>
                    <a:srgbClr val="C0F3CA"/>
                  </a:solidFill>
                </a:rPr>
                <a:t>Ata da 279ª Reunião do CMSE, de</a:t>
              </a:r>
              <a:r>
                <a:rPr lang="pt-BR" sz="1400" b="1" kern="1200">
                  <a:solidFill>
                    <a:srgbClr val="C0F3CA"/>
                  </a:solidFill>
                  <a:latin typeface="Calibri" panose="020F0502020204030204"/>
                  <a:ea typeface="+mn-ea"/>
                  <a:cs typeface="+mn-cs"/>
                </a:rPr>
                <a:t> 05/07/2023</a:t>
              </a:r>
              <a:endParaRPr lang="pt-BR" sz="1400" b="1" kern="1200">
                <a:solidFill>
                  <a:srgbClr val="C0F3CA"/>
                </a:solidFill>
              </a:endParaRP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243B130-418F-B3E7-519C-E07931EFAED1}"/>
              </a:ext>
            </a:extLst>
          </p:cNvPr>
          <p:cNvSpPr txBox="1"/>
          <p:nvPr/>
        </p:nvSpPr>
        <p:spPr>
          <a:xfrm>
            <a:off x="188368" y="1690262"/>
            <a:ext cx="38921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>
                <a:solidFill>
                  <a:schemeClr val="tx1"/>
                </a:solidFill>
              </a:rPr>
              <a:t>Define que as informações de expansão de geração e transmissão no SIN são  definidas mensalmente pela Aneel, homologadas</a:t>
            </a:r>
          </a:p>
          <a:p>
            <a:r>
              <a:rPr lang="pt-BR" sz="1600">
                <a:solidFill>
                  <a:schemeClr val="tx1"/>
                </a:solidFill>
              </a:rPr>
              <a:t>pelo CMSE</a:t>
            </a:r>
            <a:endParaRPr lang="pt-BR" sz="1600">
              <a:solidFill>
                <a:schemeClr val="tx1"/>
              </a:solidFill>
              <a:latin typeface="Calibri 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72A8B4F-E734-DAA0-AF86-245BE7F8F5D0}"/>
              </a:ext>
            </a:extLst>
          </p:cNvPr>
          <p:cNvSpPr txBox="1"/>
          <p:nvPr/>
        </p:nvSpPr>
        <p:spPr>
          <a:xfrm>
            <a:off x="262519" y="3105728"/>
            <a:ext cx="3713529" cy="2105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171450" indent="-171450">
              <a:lnSpc>
                <a:spcPts val="1340"/>
              </a:lnSpc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  <a:latin typeface="Calibri "/>
              </a:rPr>
              <a:t>Submódulo 2.4 </a:t>
            </a:r>
            <a:r>
              <a:rPr lang="pt-BR" sz="1600">
                <a:solidFill>
                  <a:schemeClr val="tx1"/>
                </a:solidFill>
                <a:latin typeface="Calibri "/>
              </a:rPr>
              <a:t>- Premissas, critérios e metodologias para estudos energéticos;</a:t>
            </a:r>
          </a:p>
          <a:p>
            <a:pPr>
              <a:lnSpc>
                <a:spcPts val="1340"/>
              </a:lnSpc>
            </a:pPr>
            <a:r>
              <a:rPr lang="pt-BR" sz="1600">
                <a:solidFill>
                  <a:schemeClr val="tx1"/>
                </a:solidFill>
                <a:latin typeface="Calibri "/>
              </a:rPr>
              <a:t> </a:t>
            </a:r>
            <a:endParaRPr lang="pt-BR" sz="1600" b="1">
              <a:solidFill>
                <a:schemeClr val="tx1"/>
              </a:solidFill>
              <a:latin typeface="Calibri "/>
            </a:endParaRPr>
          </a:p>
          <a:p>
            <a:pPr marL="171450" indent="-171450">
              <a:lnSpc>
                <a:spcPts val="1340"/>
              </a:lnSpc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  <a:latin typeface="Calibri "/>
              </a:rPr>
              <a:t>Submódulo 3.3 </a:t>
            </a:r>
            <a:r>
              <a:rPr lang="pt-BR" sz="1600">
                <a:solidFill>
                  <a:schemeClr val="tx1"/>
                </a:solidFill>
                <a:latin typeface="Calibri "/>
              </a:rPr>
              <a:t>- Planejamento da operação energética de médio prazo; </a:t>
            </a:r>
          </a:p>
          <a:p>
            <a:pPr marL="171450" indent="-171450">
              <a:lnSpc>
                <a:spcPts val="1340"/>
              </a:lnSpc>
              <a:buFont typeface="Arial" panose="020B0604020202020204" pitchFamily="34" charset="0"/>
              <a:buChar char="•"/>
            </a:pPr>
            <a:endParaRPr lang="pt-BR" sz="1600" b="1">
              <a:solidFill>
                <a:schemeClr val="tx1"/>
              </a:solidFill>
              <a:latin typeface="Calibri "/>
            </a:endParaRPr>
          </a:p>
          <a:p>
            <a:pPr marL="171450" indent="-171450">
              <a:lnSpc>
                <a:spcPts val="1340"/>
              </a:lnSpc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  <a:latin typeface="Calibri "/>
              </a:rPr>
              <a:t>Submódulo 4.3 </a:t>
            </a:r>
            <a:r>
              <a:rPr lang="pt-BR" sz="1600">
                <a:solidFill>
                  <a:schemeClr val="tx1"/>
                </a:solidFill>
                <a:latin typeface="Calibri "/>
              </a:rPr>
              <a:t>- Programação mensal da operação energética </a:t>
            </a:r>
          </a:p>
          <a:p>
            <a:pPr>
              <a:lnSpc>
                <a:spcPts val="1340"/>
              </a:lnSpc>
            </a:pPr>
            <a:endParaRPr lang="pt-BR" sz="1600">
              <a:solidFill>
                <a:schemeClr val="tx1"/>
              </a:solidFill>
              <a:latin typeface="Calibri "/>
            </a:endParaRPr>
          </a:p>
          <a:p>
            <a:pPr>
              <a:lnSpc>
                <a:spcPts val="1340"/>
              </a:lnSpc>
            </a:pPr>
            <a:r>
              <a:rPr lang="pt-BR" sz="1400">
                <a:solidFill>
                  <a:schemeClr val="tx1"/>
                </a:solidFill>
                <a:latin typeface="Calibri "/>
              </a:rPr>
              <a:t>Estabelecem que </a:t>
            </a:r>
            <a:r>
              <a:rPr lang="pt-BR" sz="1400">
                <a:solidFill>
                  <a:schemeClr val="tx1"/>
                </a:solidFill>
              </a:rPr>
              <a:t>a expansão da oferta é considerada de acordo com o Poder Concedente e ANEEL</a:t>
            </a:r>
            <a:endParaRPr lang="pt-BR" sz="1400" u="sng">
              <a:solidFill>
                <a:schemeClr val="tx1"/>
              </a:solidFill>
              <a:latin typeface="Calibri 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43BC3A3-9FD9-FF9C-DFB7-2BDC0C2BAE3C}"/>
              </a:ext>
            </a:extLst>
          </p:cNvPr>
          <p:cNvSpPr txBox="1"/>
          <p:nvPr/>
        </p:nvSpPr>
        <p:spPr>
          <a:xfrm>
            <a:off x="188368" y="5417210"/>
            <a:ext cx="3892141" cy="132343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pt-BR" sz="1600">
                <a:solidFill>
                  <a:schemeClr val="tx1"/>
                </a:solidFill>
              </a:rPr>
              <a:t>Define critérios para a representação das usinas do ACL no bloco de ofertas considerado no PMO, com base na </a:t>
            </a:r>
            <a:r>
              <a:rPr lang="pt-BR" sz="1600" b="1">
                <a:solidFill>
                  <a:schemeClr val="tx1"/>
                </a:solidFill>
              </a:rPr>
              <a:t>Nota Técnica 227/2022-SFG-SRG/ANEEL </a:t>
            </a:r>
          </a:p>
          <a:p>
            <a:r>
              <a:rPr lang="pt-BR" sz="1400">
                <a:solidFill>
                  <a:schemeClr val="tx1"/>
                </a:solidFill>
              </a:rPr>
              <a:t>(Resultado da Tomada de Subsídios 09/2021)</a:t>
            </a:r>
            <a:endParaRPr lang="pt-BR" sz="1600">
              <a:solidFill>
                <a:schemeClr val="tx1"/>
              </a:solidFill>
            </a:endParaRPr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34E51399-FF67-7E54-5087-6CDC41EE4BDD}"/>
              </a:ext>
            </a:extLst>
          </p:cNvPr>
          <p:cNvGrpSpPr/>
          <p:nvPr/>
        </p:nvGrpSpPr>
        <p:grpSpPr>
          <a:xfrm>
            <a:off x="6152389" y="1690262"/>
            <a:ext cx="1467450" cy="917156"/>
            <a:chOff x="1197461" y="1149336"/>
            <a:chExt cx="1467450" cy="917156"/>
          </a:xfrm>
          <a:solidFill>
            <a:schemeClr val="accent5">
              <a:lumMod val="50000"/>
            </a:schemeClr>
          </a:solidFill>
          <a:effectLst/>
        </p:grpSpPr>
        <p:sp>
          <p:nvSpPr>
            <p:cNvPr id="44" name="Retângulo Arredondado 43">
              <a:extLst>
                <a:ext uri="{FF2B5EF4-FFF2-40B4-BE49-F238E27FC236}">
                  <a16:creationId xmlns:a16="http://schemas.microsoft.com/office/drawing/2014/main" id="{81B5754D-C0C7-A3B8-1E2E-85BD252D0C7E}"/>
                </a:ext>
              </a:extLst>
            </p:cNvPr>
            <p:cNvSpPr/>
            <p:nvPr/>
          </p:nvSpPr>
          <p:spPr>
            <a:xfrm>
              <a:off x="1197461" y="1149336"/>
              <a:ext cx="1467450" cy="917156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b="1">
                <a:solidFill>
                  <a:srgbClr val="C0F3CA"/>
                </a:solidFill>
              </a:endParaRP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F07FB0E3-F1BA-0844-C0F5-DF72A5ADA181}"/>
                </a:ext>
              </a:extLst>
            </p:cNvPr>
            <p:cNvSpPr txBox="1"/>
            <p:nvPr/>
          </p:nvSpPr>
          <p:spPr>
            <a:xfrm>
              <a:off x="1314838" y="1187822"/>
              <a:ext cx="1246061" cy="86343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b="1" kern="1200">
                  <a:solidFill>
                    <a:srgbClr val="C0F3CA"/>
                  </a:solidFill>
                </a:rPr>
                <a:t>Procedimentos de Rede</a:t>
              </a:r>
            </a:p>
          </p:txBody>
        </p:sp>
      </p:grpSp>
      <p:sp>
        <p:nvSpPr>
          <p:cNvPr id="51" name="Retângulo Arredondado 50">
            <a:extLst>
              <a:ext uri="{FF2B5EF4-FFF2-40B4-BE49-F238E27FC236}">
                <a16:creationId xmlns:a16="http://schemas.microsoft.com/office/drawing/2014/main" id="{70CD2EF8-7D5D-8CC7-CAAC-CB2140046CFB}"/>
              </a:ext>
            </a:extLst>
          </p:cNvPr>
          <p:cNvSpPr/>
          <p:nvPr/>
        </p:nvSpPr>
        <p:spPr>
          <a:xfrm>
            <a:off x="7968041" y="1197200"/>
            <a:ext cx="4035591" cy="1515315"/>
          </a:xfrm>
          <a:prstGeom prst="roundRect">
            <a:avLst>
              <a:gd name="adj" fmla="val 11383"/>
            </a:avLst>
          </a:prstGeom>
          <a:solidFill>
            <a:schemeClr val="bg1">
              <a:alpha val="7680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627AD79-DE47-EA8D-45D4-996A15F6C954}"/>
              </a:ext>
            </a:extLst>
          </p:cNvPr>
          <p:cNvSpPr txBox="1"/>
          <p:nvPr/>
        </p:nvSpPr>
        <p:spPr>
          <a:xfrm>
            <a:off x="8057102" y="1310141"/>
            <a:ext cx="3828177" cy="132343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just"/>
            <a:r>
              <a:rPr lang="pt-BR" sz="1600" b="1">
                <a:solidFill>
                  <a:schemeClr val="tx1"/>
                </a:solidFill>
                <a:latin typeface="Calibri "/>
              </a:rPr>
              <a:t>Submódulo 3.1</a:t>
            </a:r>
            <a:r>
              <a:rPr lang="pt-BR" sz="1600" b="1">
                <a:latin typeface="Calibri "/>
              </a:rPr>
              <a:t>- subitem 1.3.3</a:t>
            </a:r>
            <a:r>
              <a:rPr lang="pt-BR" sz="1600" b="1">
                <a:solidFill>
                  <a:schemeClr val="tx1"/>
                </a:solidFill>
                <a:latin typeface="Calibri "/>
              </a:rPr>
              <a:t> </a:t>
            </a:r>
            <a:r>
              <a:rPr lang="pt-BR" sz="1600">
                <a:solidFill>
                  <a:schemeClr val="tx1"/>
                </a:solidFill>
                <a:latin typeface="Calibri "/>
              </a:rPr>
              <a:t>- </a:t>
            </a:r>
            <a:r>
              <a:rPr lang="pt-BR" sz="1600" i="1">
                <a:solidFill>
                  <a:schemeClr val="tx1"/>
                </a:solidFill>
                <a:latin typeface="Calibri "/>
              </a:rPr>
              <a:t>Planejamento da operação elétrica de médio prazo </a:t>
            </a:r>
            <a:r>
              <a:rPr lang="pt-BR" sz="1600">
                <a:solidFill>
                  <a:schemeClr val="tx1"/>
                </a:solidFill>
                <a:latin typeface="Calibri "/>
              </a:rPr>
              <a:t>estabelece o conjunto de geradores a serem considerados nos estudos do PAR/PEL.</a:t>
            </a:r>
          </a:p>
        </p:txBody>
      </p:sp>
      <p:sp>
        <p:nvSpPr>
          <p:cNvPr id="54" name="Retângulo Arredondado 53">
            <a:extLst>
              <a:ext uri="{FF2B5EF4-FFF2-40B4-BE49-F238E27FC236}">
                <a16:creationId xmlns:a16="http://schemas.microsoft.com/office/drawing/2014/main" id="{B481EED2-25DB-A869-BCA1-B748D0A3C464}"/>
              </a:ext>
            </a:extLst>
          </p:cNvPr>
          <p:cNvSpPr/>
          <p:nvPr/>
        </p:nvSpPr>
        <p:spPr>
          <a:xfrm>
            <a:off x="7966782" y="2830688"/>
            <a:ext cx="4035591" cy="1058948"/>
          </a:xfrm>
          <a:prstGeom prst="roundRect">
            <a:avLst>
              <a:gd name="adj" fmla="val 14941"/>
            </a:avLst>
          </a:prstGeom>
          <a:solidFill>
            <a:srgbClr val="FFF5D9">
              <a:alpha val="76805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611325B-84A8-FD5D-8D3E-43C5E9B1CB4F}"/>
              </a:ext>
            </a:extLst>
          </p:cNvPr>
          <p:cNvSpPr txBox="1"/>
          <p:nvPr/>
        </p:nvSpPr>
        <p:spPr>
          <a:xfrm>
            <a:off x="8083875" y="2827371"/>
            <a:ext cx="3801404" cy="107721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just"/>
            <a:r>
              <a:rPr lang="pt-BR" sz="1600"/>
              <a:t>O Termo de Referência do PAR/PEL aborda o que não está estabelecido nos PR, como por exemplo: usinas novas com CUST assinado.</a:t>
            </a:r>
            <a:endParaRPr lang="pt-BR" sz="1600">
              <a:solidFill>
                <a:schemeClr val="tx1">
                  <a:lumMod val="95000"/>
                  <a:lumOff val="5000"/>
                </a:schemeClr>
              </a:solidFill>
              <a:latin typeface="Calibri 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CA35ABE-BA60-B601-09AC-B7E8A1B64B0D}"/>
              </a:ext>
            </a:extLst>
          </p:cNvPr>
          <p:cNvSpPr txBox="1"/>
          <p:nvPr/>
        </p:nvSpPr>
        <p:spPr>
          <a:xfrm>
            <a:off x="6112161" y="4666743"/>
            <a:ext cx="5929603" cy="2062103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just"/>
            <a:endParaRPr lang="pt-BR" sz="160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PAR/PEL: </a:t>
            </a:r>
            <a:r>
              <a:rPr lang="pt-BR" sz="160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Considera todas as usinas que tenham CUST assinado;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pt-BR" sz="160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Autoprodução não é representada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Usinas com obras iniciadas são representadas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Usinas que não estejam com obras iniciadas: considera apenas aquelas com CUST/CUSD e PPA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777BF4-602A-A4AB-DC24-8442877B93DE}"/>
              </a:ext>
            </a:extLst>
          </p:cNvPr>
          <p:cNvSpPr txBox="1"/>
          <p:nvPr/>
        </p:nvSpPr>
        <p:spPr>
          <a:xfrm>
            <a:off x="6802301" y="4074470"/>
            <a:ext cx="5240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Diferença entre os critérios quanto à</a:t>
            </a:r>
          </a:p>
          <a:p>
            <a:r>
              <a:rPr lang="pt-BR" sz="1800" b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de usinas no ACL</a:t>
            </a:r>
            <a:endParaRPr lang="pt-B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áfico 21" descr="Lista de Verificação estrutura de tópicos">
            <a:extLst>
              <a:ext uri="{FF2B5EF4-FFF2-40B4-BE49-F238E27FC236}">
                <a16:creationId xmlns:a16="http://schemas.microsoft.com/office/drawing/2014/main" id="{D9C6D191-3C53-EC29-3EA1-4C051CED3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1486" y="4104818"/>
            <a:ext cx="615983" cy="61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6784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48CB0-C4C8-506D-7A8A-0341D8AFE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D8F3346A-3CF7-D6FC-6EB4-76F14A47E347}"/>
              </a:ext>
            </a:extLst>
          </p:cNvPr>
          <p:cNvSpPr/>
          <p:nvPr/>
        </p:nvSpPr>
        <p:spPr>
          <a:xfrm>
            <a:off x="99589" y="110100"/>
            <a:ext cx="11969038" cy="1044644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6C121F-9E19-082F-B8AE-6BFF4408C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4" y="194564"/>
            <a:ext cx="11868737" cy="80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Usinas Existentes – Base Energética x Elétrica</a:t>
            </a:r>
          </a:p>
          <a:p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Ref.: Maio de 2025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7C47D7A-0AFA-FB18-A87F-77283CA86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38001"/>
              </p:ext>
            </p:extLst>
          </p:nvPr>
        </p:nvGraphicFramePr>
        <p:xfrm>
          <a:off x="5605203" y="1838838"/>
          <a:ext cx="6463424" cy="384048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550154">
                  <a:extLst>
                    <a:ext uri="{9D8B030D-6E8A-4147-A177-3AD203B41FA5}">
                      <a16:colId xmlns:a16="http://schemas.microsoft.com/office/drawing/2014/main" val="124540409"/>
                    </a:ext>
                  </a:extLst>
                </a:gridCol>
                <a:gridCol w="1659459">
                  <a:extLst>
                    <a:ext uri="{9D8B030D-6E8A-4147-A177-3AD203B41FA5}">
                      <a16:colId xmlns:a16="http://schemas.microsoft.com/office/drawing/2014/main" val="2108143961"/>
                    </a:ext>
                  </a:extLst>
                </a:gridCol>
                <a:gridCol w="1489811">
                  <a:extLst>
                    <a:ext uri="{9D8B030D-6E8A-4147-A177-3AD203B41FA5}">
                      <a16:colId xmlns:a16="http://schemas.microsoft.com/office/drawing/2014/main" val="561001215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242379464"/>
                    </a:ext>
                  </a:extLst>
                </a:gridCol>
              </a:tblGrid>
              <a:tr h="632557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Bloco de Usinas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Informações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Estudos Energéticos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Estudos Elétricos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950311"/>
                  </a:ext>
                </a:extLst>
              </a:tr>
              <a:tr h="632557">
                <a:tc rowSpan="3">
                  <a:txBody>
                    <a:bodyPr/>
                    <a:lstStyle/>
                    <a:p>
                      <a:pPr algn="ctr"/>
                      <a:r>
                        <a:rPr lang="pt-BR"/>
                        <a:t>Tipo I e II-A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Itaipu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Parte Brasileira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Parte Brasileira e Paraguaia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006848"/>
                  </a:ext>
                </a:extLst>
              </a:tr>
              <a:tr h="63255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UTE sem CVU válido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Não considera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Considera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628951"/>
                  </a:ext>
                </a:extLst>
              </a:tr>
              <a:tr h="63255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Suspensão de UG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Considera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Não Considera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345316"/>
                  </a:ext>
                </a:extLst>
              </a:tr>
              <a:tr h="632557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Usinas Não Simuladas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Autoprodução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Injeção Líquida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Pode considerar geração bruta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926439"/>
                  </a:ext>
                </a:extLst>
              </a:tr>
              <a:tr h="632557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MMGD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Dados dos Agentes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T-1</a:t>
                      </a:r>
                      <a:r>
                        <a:rPr lang="pt-BR" baseline="30000"/>
                        <a:t>(1)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T-2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1123394"/>
                  </a:ext>
                </a:extLst>
              </a:tr>
            </a:tbl>
          </a:graphicData>
        </a:graphic>
      </p:graphicFrame>
      <p:pic>
        <p:nvPicPr>
          <p:cNvPr id="2" name="Imagem 13">
            <a:extLst>
              <a:ext uri="{FF2B5EF4-FFF2-40B4-BE49-F238E27FC236}">
                <a16:creationId xmlns:a16="http://schemas.microsoft.com/office/drawing/2014/main" id="{DD3CF693-3550-A307-6B7D-DC882B5E1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589" y="2178371"/>
            <a:ext cx="5007724" cy="295957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2BA2C13-5CF0-35BF-63C4-919A0D98B7AC}"/>
              </a:ext>
            </a:extLst>
          </p:cNvPr>
          <p:cNvSpPr txBox="1"/>
          <p:nvPr/>
        </p:nvSpPr>
        <p:spPr>
          <a:xfrm>
            <a:off x="468630" y="5863590"/>
            <a:ext cx="11338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aseline="30000"/>
              <a:t>(1)</a:t>
            </a:r>
            <a:r>
              <a:rPr lang="pt-BR" sz="1600"/>
              <a:t> Informação defasada de 1 mês em relação ao dado do agente. Exemplo: Nos estudos de agosto, utiliza a informação de julho enviada pelo agente.</a:t>
            </a:r>
          </a:p>
        </p:txBody>
      </p:sp>
    </p:spTree>
    <p:extLst>
      <p:ext uri="{BB962C8B-B14F-4D97-AF65-F5344CB8AC3E}">
        <p14:creationId xmlns:p14="http://schemas.microsoft.com/office/powerpoint/2010/main" val="301780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04555-61A5-E13D-FFC3-82340BAA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737F9B60-A8F5-D805-5F1C-D6B1E7F38EA4}"/>
              </a:ext>
            </a:extLst>
          </p:cNvPr>
          <p:cNvSpPr/>
          <p:nvPr/>
        </p:nvSpPr>
        <p:spPr>
          <a:xfrm>
            <a:off x="99589" y="88328"/>
            <a:ext cx="11969038" cy="1044644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Usinas Expansão (dez/29) – Base Energética x Elétrica</a:t>
            </a:r>
          </a:p>
          <a:p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Ref.: Maio de 2025</a:t>
            </a: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04F0C0CD-FBBA-F80F-7F1E-C4FE8564D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5" y="110100"/>
            <a:ext cx="11868737" cy="868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endParaRPr lang="pt-BR" sz="2400" b="1">
              <a:solidFill>
                <a:srgbClr val="BFF3CA"/>
              </a:solidFill>
              <a:latin typeface="Arial"/>
              <a:cs typeface="Arial"/>
            </a:endParaRPr>
          </a:p>
          <a:p>
            <a:pPr defTabSz="957579" eaLnBrk="0" hangingPunct="0">
              <a:defRPr/>
            </a:pPr>
            <a:endParaRPr kumimoji="0" lang="pt-BR" sz="2800" b="1" i="0" u="none" strike="noStrike" kern="1200" cap="none" spc="0" normalizeH="0" baseline="0" noProof="0">
              <a:ln>
                <a:noFill/>
              </a:ln>
              <a:solidFill>
                <a:srgbClr val="BFF3CA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1F53235-12A6-7574-B3CF-E6365A695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86697"/>
              </p:ext>
            </p:extLst>
          </p:nvPr>
        </p:nvGraphicFramePr>
        <p:xfrm>
          <a:off x="5288876" y="2102699"/>
          <a:ext cx="6658342" cy="3648481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087895">
                  <a:extLst>
                    <a:ext uri="{9D8B030D-6E8A-4147-A177-3AD203B41FA5}">
                      <a16:colId xmlns:a16="http://schemas.microsoft.com/office/drawing/2014/main" val="124540409"/>
                    </a:ext>
                  </a:extLst>
                </a:gridCol>
                <a:gridCol w="1430447">
                  <a:extLst>
                    <a:ext uri="{9D8B030D-6E8A-4147-A177-3AD203B41FA5}">
                      <a16:colId xmlns:a16="http://schemas.microsoft.com/office/drawing/2014/main" val="2108143961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56100121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2242379464"/>
                    </a:ext>
                  </a:extLst>
                </a:gridCol>
              </a:tblGrid>
              <a:tr h="448081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Bloco de Usinas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Informações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Estudos Energéticos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Estudos Elétricos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950311"/>
                  </a:ext>
                </a:extLst>
              </a:tr>
              <a:tr h="448081">
                <a:tc rowSpan="3">
                  <a:txBody>
                    <a:bodyPr/>
                    <a:lstStyle/>
                    <a:p>
                      <a:pPr algn="ctr"/>
                      <a:r>
                        <a:rPr lang="pt-BR"/>
                        <a:t>Tipo I e II-A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Expansão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Reunião expansão da geração ANEEL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Usinas Leilão e Usinas Parecer de Acesso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006848"/>
                  </a:ext>
                </a:extLst>
              </a:tr>
              <a:tr h="44808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UTE sem CVU válido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Não considera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Considera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628951"/>
                  </a:ext>
                </a:extLst>
              </a:tr>
              <a:tr h="44808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Suspensão de UG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Considera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Não Considera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345316"/>
                  </a:ext>
                </a:extLst>
              </a:tr>
              <a:tr h="448081">
                <a:tc gridSpan="2">
                  <a:txBody>
                    <a:bodyPr/>
                    <a:lstStyle/>
                    <a:p>
                      <a:pPr algn="ctr"/>
                      <a:r>
                        <a:rPr lang="pt-BR"/>
                        <a:t>Usinas Não Simuladas (ACL)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PPA + CUST/D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CUST/D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926439"/>
                  </a:ext>
                </a:extLst>
              </a:tr>
              <a:tr h="448081">
                <a:tc gridSpan="2">
                  <a:txBody>
                    <a:bodyPr/>
                    <a:lstStyle/>
                    <a:p>
                      <a:pPr algn="ctr"/>
                      <a:r>
                        <a:rPr lang="pt-BR"/>
                        <a:t>MMGD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Modelo 4MD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Dados dos Agentes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1123394"/>
                  </a:ext>
                </a:extLst>
              </a:tr>
            </a:tbl>
          </a:graphicData>
        </a:graphic>
      </p:graphicFrame>
      <p:pic>
        <p:nvPicPr>
          <p:cNvPr id="3" name="Imagem 4">
            <a:extLst>
              <a:ext uri="{FF2B5EF4-FFF2-40B4-BE49-F238E27FC236}">
                <a16:creationId xmlns:a16="http://schemas.microsoft.com/office/drawing/2014/main" id="{C9B7963F-2D00-8C6C-DBF2-1574D72DA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077" y="2229240"/>
            <a:ext cx="5033024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67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6D138-4327-1802-EE8E-9E41D99B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7A5D3E6A-4ACE-790F-EDB2-5A967CDF6498}"/>
              </a:ext>
            </a:extLst>
          </p:cNvPr>
          <p:cNvSpPr/>
          <p:nvPr/>
        </p:nvSpPr>
        <p:spPr>
          <a:xfrm>
            <a:off x="99589" y="110100"/>
            <a:ext cx="11969038" cy="1044644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BFF3C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Critérios de Expansão Usinas Não </a:t>
            </a: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S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BFF3C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imuladas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BFF3C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– Elétrico x Energético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55B0EA5-2368-CC9B-226E-F12CB73920C1}"/>
              </a:ext>
            </a:extLst>
          </p:cNvPr>
          <p:cNvSpPr/>
          <p:nvPr/>
        </p:nvSpPr>
        <p:spPr>
          <a:xfrm>
            <a:off x="221644" y="2475210"/>
            <a:ext cx="864000" cy="5400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33D428-AFD6-37A9-572C-64DBF5FFC201}"/>
              </a:ext>
            </a:extLst>
          </p:cNvPr>
          <p:cNvSpPr txBox="1"/>
          <p:nvPr/>
        </p:nvSpPr>
        <p:spPr>
          <a:xfrm>
            <a:off x="2944313" y="2475210"/>
            <a:ext cx="251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Energético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FD72EA-C584-2B0F-C716-70706B1A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856" y="2844542"/>
            <a:ext cx="5404238" cy="383103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85BBB22-B202-6A93-E80D-1F8CF578AE78}"/>
              </a:ext>
            </a:extLst>
          </p:cNvPr>
          <p:cNvSpPr txBox="1"/>
          <p:nvPr/>
        </p:nvSpPr>
        <p:spPr>
          <a:xfrm>
            <a:off x="7959354" y="2844542"/>
            <a:ext cx="2730790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5343B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Wingdings" panose="05000000000000000000" pitchFamily="2" charset="2"/>
              </a:rPr>
              <a:t>Todas as usinas com CUST/CUSD assinado, independente do status das obras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5343B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7EE445E-3241-C802-7427-9D68E94CB6DB}"/>
              </a:ext>
            </a:extLst>
          </p:cNvPr>
          <p:cNvSpPr txBox="1"/>
          <p:nvPr/>
        </p:nvSpPr>
        <p:spPr>
          <a:xfrm>
            <a:off x="8065087" y="2475210"/>
            <a:ext cx="251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Elétrico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35812A7-0FEB-D073-F7FE-6877FF3A7D1C}"/>
              </a:ext>
            </a:extLst>
          </p:cNvPr>
          <p:cNvGrpSpPr/>
          <p:nvPr/>
        </p:nvGrpSpPr>
        <p:grpSpPr>
          <a:xfrm>
            <a:off x="99589" y="1333308"/>
            <a:ext cx="11376131" cy="852108"/>
            <a:chOff x="99589" y="1251012"/>
            <a:chExt cx="11376131" cy="852108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1E183951-27A3-0F64-0281-ABB9FD91DEDB}"/>
                </a:ext>
              </a:extLst>
            </p:cNvPr>
            <p:cNvSpPr txBox="1"/>
            <p:nvPr/>
          </p:nvSpPr>
          <p:spPr>
            <a:xfrm>
              <a:off x="1212566" y="1354282"/>
              <a:ext cx="10061985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5343B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Elétrico e energético consideram todas as usinas dentro do horizonte do estudo, com exceção de algumas com classificação </a:t>
              </a: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5343B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Wingdings" panose="05000000000000000000" pitchFamily="2" charset="2"/>
                </a:rPr>
                <a:t>“Paralisada” no RALIE.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5343B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CF3EBE33-5C4E-4555-117C-330AF4BD1BE4}"/>
                </a:ext>
              </a:extLst>
            </p:cNvPr>
            <p:cNvSpPr/>
            <p:nvPr/>
          </p:nvSpPr>
          <p:spPr>
            <a:xfrm>
              <a:off x="221644" y="1407066"/>
              <a:ext cx="864000" cy="54000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ACR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2DD6408-B7AF-E986-DCFE-4329CE016C57}"/>
                </a:ext>
              </a:extLst>
            </p:cNvPr>
            <p:cNvSpPr/>
            <p:nvPr/>
          </p:nvSpPr>
          <p:spPr>
            <a:xfrm>
              <a:off x="99589" y="1251012"/>
              <a:ext cx="11376131" cy="852108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Retângulo 16">
            <a:extLst>
              <a:ext uri="{FF2B5EF4-FFF2-40B4-BE49-F238E27FC236}">
                <a16:creationId xmlns:a16="http://schemas.microsoft.com/office/drawing/2014/main" id="{86AD5CB3-CC1B-96EB-3B15-8AB2D5CE1112}"/>
              </a:ext>
            </a:extLst>
          </p:cNvPr>
          <p:cNvSpPr/>
          <p:nvPr/>
        </p:nvSpPr>
        <p:spPr>
          <a:xfrm>
            <a:off x="99588" y="2411480"/>
            <a:ext cx="11376131" cy="4336420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36BA45-DB99-32C1-F089-2EB35264D556}"/>
              </a:ext>
            </a:extLst>
          </p:cNvPr>
          <p:cNvSpPr txBox="1"/>
          <p:nvPr/>
        </p:nvSpPr>
        <p:spPr>
          <a:xfrm>
            <a:off x="7329226" y="4044871"/>
            <a:ext cx="39910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(*) Para as Tipo II-B e III, e PCT e PCH Tipo II-C, os estudos elétricos consideram usinas com viabilidade alta ou média ou que já foram aprovadas em leilão, já tendo ponto de conexão definido. As usinas com viabilidade média são consideradas apenas a partir do 3º ano do horizonte do estudo</a:t>
            </a:r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282018605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918CB-3939-D5C8-06D3-C28E909A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41C5C52C-5334-AF0B-FDD2-C02FCD245A90}"/>
              </a:ext>
            </a:extLst>
          </p:cNvPr>
          <p:cNvSpPr/>
          <p:nvPr/>
        </p:nvSpPr>
        <p:spPr>
          <a:xfrm>
            <a:off x="111481" y="138945"/>
            <a:ext cx="11969038" cy="925229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4EB7FF42-2C7C-D9F0-E3F3-333DCCF50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307" y="191102"/>
            <a:ext cx="11868737" cy="437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pPr defTabSz="957579" eaLnBrk="0" hangingPunct="0">
              <a:defRPr/>
            </a:pP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 Expansão Usinas Não Simuladas Individualmente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BFF3CA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1C44CD-FFE0-1F91-EF84-C3B63D7DB56E}"/>
              </a:ext>
            </a:extLst>
          </p:cNvPr>
          <p:cNvSpPr txBox="1"/>
          <p:nvPr/>
        </p:nvSpPr>
        <p:spPr>
          <a:xfrm>
            <a:off x="939461" y="1334045"/>
            <a:ext cx="999460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/>
              <a:t>Avaliar novos critérios para representação da expansão com base em informações disponíveis no </a:t>
            </a:r>
            <a:r>
              <a:rPr lang="pt-BR" sz="2400" err="1"/>
              <a:t>Ralie</a:t>
            </a:r>
            <a:r>
              <a:rPr lang="pt-BR" sz="2400"/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err="1"/>
              <a:t>Backtest</a:t>
            </a:r>
            <a:r>
              <a:rPr lang="pt-BR" sz="2400"/>
              <a:t> com a fotografia do </a:t>
            </a:r>
            <a:r>
              <a:rPr lang="pt-BR" sz="2400" err="1"/>
              <a:t>Ralie</a:t>
            </a:r>
            <a:r>
              <a:rPr lang="pt-BR" sz="2400"/>
              <a:t> de </a:t>
            </a:r>
            <a:r>
              <a:rPr lang="pt-BR" sz="2400" err="1"/>
              <a:t>jan</a:t>
            </a:r>
            <a:r>
              <a:rPr lang="pt-BR" sz="2400"/>
              <a:t>/22, </a:t>
            </a:r>
            <a:r>
              <a:rPr lang="pt-BR" sz="2400" err="1"/>
              <a:t>jan</a:t>
            </a:r>
            <a:r>
              <a:rPr lang="pt-BR" sz="2400"/>
              <a:t>/23 e </a:t>
            </a:r>
            <a:r>
              <a:rPr lang="pt-BR" sz="2400" err="1"/>
              <a:t>jan</a:t>
            </a:r>
            <a:r>
              <a:rPr lang="pt-BR" sz="2400"/>
              <a:t>/24;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/>
              <a:t>Focou-se na expansão das eólicas e fotovoltaicas;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/>
              <a:t>Critérios avaliados: combinações utilizando as informações de CUST/D, PPA, viabilidade dos empreendimentos, situação da obra, Licença Prévia, Licença de Instalação e Licença de Operação disponíveis.</a:t>
            </a:r>
            <a:endParaRPr 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14517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F6B12-BE1C-5D7B-34D7-E34E9546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E258666-6AF0-338E-017E-CF0F7247B9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1" b="6316"/>
          <a:stretch/>
        </p:blipFill>
        <p:spPr>
          <a:xfrm>
            <a:off x="180000" y="3756471"/>
            <a:ext cx="5148000" cy="208026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1DE7025-9F19-19EA-D8AD-A2CE5AD5170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3" b="5603"/>
          <a:stretch/>
        </p:blipFill>
        <p:spPr>
          <a:xfrm>
            <a:off x="6161032" y="1621776"/>
            <a:ext cx="5148000" cy="216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99D1C1F-0F3F-0030-4C88-B44A9D57F44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17" b="8281"/>
          <a:stretch/>
        </p:blipFill>
        <p:spPr>
          <a:xfrm>
            <a:off x="180000" y="1621776"/>
            <a:ext cx="5148000" cy="2068441"/>
          </a:xfrm>
          <a:prstGeom prst="rect">
            <a:avLst/>
          </a:prstGeom>
        </p:spPr>
      </p:pic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86987596-EFF7-9129-05BA-2DD4F779D923}"/>
              </a:ext>
            </a:extLst>
          </p:cNvPr>
          <p:cNvSpPr/>
          <p:nvPr/>
        </p:nvSpPr>
        <p:spPr>
          <a:xfrm>
            <a:off x="111481" y="138945"/>
            <a:ext cx="11969038" cy="925229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EFD6B77E-9DA0-460E-9450-83C247B80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266" y="234662"/>
            <a:ext cx="11868737" cy="437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pPr defTabSz="957579" eaLnBrk="0" hangingPunct="0"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BFF3CA"/>
                </a:solidFill>
                <a:effectLst/>
                <a:uLnTx/>
                <a:uFillTx/>
                <a:latin typeface="Arial"/>
                <a:cs typeface="Arial"/>
              </a:rPr>
              <a:t>Critérios de expansão </a:t>
            </a: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EOL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BFF3CA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5A232C3-E254-669D-8030-99BDE807C2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2349" y="5885841"/>
            <a:ext cx="3103214" cy="69096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7D18B00A-3EC8-74EF-5B7A-2FCE499C52DD}"/>
              </a:ext>
            </a:extLst>
          </p:cNvPr>
          <p:cNvSpPr txBox="1"/>
          <p:nvPr/>
        </p:nvSpPr>
        <p:spPr>
          <a:xfrm>
            <a:off x="2056655" y="1314000"/>
            <a:ext cx="139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/>
              <a:t>Ralie</a:t>
            </a:r>
            <a:r>
              <a:rPr lang="pt-BR" sz="1400" b="1"/>
              <a:t> Jan/2022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357BBAB-7B69-2A91-5BEB-9B2839297327}"/>
              </a:ext>
            </a:extLst>
          </p:cNvPr>
          <p:cNvSpPr txBox="1"/>
          <p:nvPr/>
        </p:nvSpPr>
        <p:spPr>
          <a:xfrm>
            <a:off x="8194961" y="1551783"/>
            <a:ext cx="139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/>
              <a:t>Ralie</a:t>
            </a:r>
            <a:r>
              <a:rPr lang="pt-BR" sz="1400" b="1"/>
              <a:t> Jan/2023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0287CD4-C515-8D05-760A-293E24B60D0B}"/>
              </a:ext>
            </a:extLst>
          </p:cNvPr>
          <p:cNvSpPr txBox="1"/>
          <p:nvPr/>
        </p:nvSpPr>
        <p:spPr>
          <a:xfrm>
            <a:off x="2128655" y="3756471"/>
            <a:ext cx="139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/>
              <a:t>Ralie</a:t>
            </a:r>
            <a:r>
              <a:rPr lang="pt-BR" sz="1400" b="1"/>
              <a:t> Jan/2024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1A633E-B015-0DD3-9596-F99E8E644FA3}"/>
              </a:ext>
            </a:extLst>
          </p:cNvPr>
          <p:cNvSpPr txBox="1"/>
          <p:nvPr/>
        </p:nvSpPr>
        <p:spPr>
          <a:xfrm>
            <a:off x="6161032" y="4082409"/>
            <a:ext cx="5596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/>
              <a:t>Tendência de subdimensionamento na aplicação dos critérios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/>
              <a:t>Tendência da base do </a:t>
            </a:r>
            <a:r>
              <a:rPr lang="pt-BR" b="1" err="1"/>
              <a:t>Ralie</a:t>
            </a:r>
            <a:r>
              <a:rPr lang="pt-BR" b="1"/>
              <a:t> ser inferior à expansão verificada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/>
              <a:t>Tendência da base do </a:t>
            </a:r>
            <a:r>
              <a:rPr lang="pt-BR" b="1" err="1"/>
              <a:t>Ralie</a:t>
            </a:r>
            <a:r>
              <a:rPr lang="pt-BR" b="1"/>
              <a:t> diminuir a partir do terceiro ano</a:t>
            </a:r>
          </a:p>
        </p:txBody>
      </p:sp>
    </p:spTree>
    <p:extLst>
      <p:ext uri="{BB962C8B-B14F-4D97-AF65-F5344CB8AC3E}">
        <p14:creationId xmlns:p14="http://schemas.microsoft.com/office/powerpoint/2010/main" val="4013588003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F31A0-001D-DF17-12AE-E4D1E72D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FFE9BC1B-D6F1-55BE-2C23-0F1664FCD942}"/>
              </a:ext>
            </a:extLst>
          </p:cNvPr>
          <p:cNvSpPr/>
          <p:nvPr/>
        </p:nvSpPr>
        <p:spPr>
          <a:xfrm>
            <a:off x="111481" y="138945"/>
            <a:ext cx="11969038" cy="925229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388FA1E6-9431-7E51-F447-A30FFE070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63" y="236009"/>
            <a:ext cx="11868737" cy="437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pPr defTabSz="957579" eaLnBrk="0" hangingPunct="0"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BFF3CA"/>
                </a:solidFill>
                <a:effectLst/>
                <a:uLnTx/>
                <a:uFillTx/>
                <a:latin typeface="Arial"/>
                <a:cs typeface="Arial"/>
              </a:rPr>
              <a:t>Critérios de expansão </a:t>
            </a: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UFV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BFF3CA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96208185-5833-66FF-BC7A-578F499935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r="1635"/>
          <a:stretch/>
        </p:blipFill>
        <p:spPr>
          <a:xfrm>
            <a:off x="180000" y="1385419"/>
            <a:ext cx="5148000" cy="21600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0AAC0F3-D091-BC5B-D852-50854B30895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7" b="5977"/>
          <a:stretch/>
        </p:blipFill>
        <p:spPr>
          <a:xfrm>
            <a:off x="6161032" y="1408720"/>
            <a:ext cx="5148000" cy="21600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65AA463-1B34-B268-84A4-07BE69DA4C3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0" b="6752"/>
          <a:stretch/>
        </p:blipFill>
        <p:spPr>
          <a:xfrm>
            <a:off x="180000" y="3685032"/>
            <a:ext cx="5148000" cy="2043688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3F26E81-6DB6-CFFE-460D-646E3A7F42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2349" y="5876605"/>
            <a:ext cx="3103214" cy="69096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1529CF96-B779-749B-EBC8-721160EF0EBD}"/>
              </a:ext>
            </a:extLst>
          </p:cNvPr>
          <p:cNvSpPr txBox="1"/>
          <p:nvPr/>
        </p:nvSpPr>
        <p:spPr>
          <a:xfrm>
            <a:off x="2207585" y="1349316"/>
            <a:ext cx="139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/>
              <a:t>Ralie</a:t>
            </a:r>
            <a:r>
              <a:rPr lang="pt-BR" sz="1400" b="1"/>
              <a:t> Jan/2022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CECE0B8-73C6-8E37-2A70-9BC3421BD82A}"/>
              </a:ext>
            </a:extLst>
          </p:cNvPr>
          <p:cNvSpPr txBox="1"/>
          <p:nvPr/>
        </p:nvSpPr>
        <p:spPr>
          <a:xfrm>
            <a:off x="9072416" y="1636797"/>
            <a:ext cx="139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/>
              <a:t>Ralie</a:t>
            </a:r>
            <a:r>
              <a:rPr lang="pt-BR" sz="1400" b="1"/>
              <a:t> Jan/2023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44FE0C4-2B15-3079-E20D-9D09704A8C18}"/>
              </a:ext>
            </a:extLst>
          </p:cNvPr>
          <p:cNvSpPr txBox="1"/>
          <p:nvPr/>
        </p:nvSpPr>
        <p:spPr>
          <a:xfrm>
            <a:off x="1717966" y="3762266"/>
            <a:ext cx="139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/>
              <a:t>Ralie</a:t>
            </a:r>
            <a:r>
              <a:rPr lang="pt-BR" sz="1400" b="1"/>
              <a:t> Jan/2024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DBFFEEA-0773-E8AB-7306-4BD6A894A20C}"/>
              </a:ext>
            </a:extLst>
          </p:cNvPr>
          <p:cNvSpPr txBox="1"/>
          <p:nvPr/>
        </p:nvSpPr>
        <p:spPr>
          <a:xfrm>
            <a:off x="6161032" y="4082409"/>
            <a:ext cx="5596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/>
              <a:t>A aplicação do critério energético tende a ser muito conservador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/>
              <a:t>Tendência da base do </a:t>
            </a:r>
            <a:r>
              <a:rPr lang="pt-BR" b="1" err="1"/>
              <a:t>Ralie</a:t>
            </a:r>
            <a:r>
              <a:rPr lang="pt-BR" b="1"/>
              <a:t> ser pequena a partir do quarto ano</a:t>
            </a:r>
          </a:p>
        </p:txBody>
      </p:sp>
    </p:spTree>
    <p:extLst>
      <p:ext uri="{BB962C8B-B14F-4D97-AF65-F5344CB8AC3E}">
        <p14:creationId xmlns:p14="http://schemas.microsoft.com/office/powerpoint/2010/main" val="282677313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C9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85881-DF2A-AEFE-5892-FD704DE3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6F5BFD01-33C8-20E4-56BF-EAE52B103081}"/>
              </a:ext>
            </a:extLst>
          </p:cNvPr>
          <p:cNvSpPr/>
          <p:nvPr/>
        </p:nvSpPr>
        <p:spPr>
          <a:xfrm>
            <a:off x="111481" y="138945"/>
            <a:ext cx="11969038" cy="925229"/>
          </a:xfrm>
          <a:prstGeom prst="roundRect">
            <a:avLst>
              <a:gd name="adj" fmla="val 50000"/>
            </a:avLst>
          </a:prstGeom>
          <a:solidFill>
            <a:srgbClr val="05343B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3F96EE10-E193-DB7F-CD3A-49C37EA1D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42" y="345912"/>
            <a:ext cx="11868737" cy="437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5943" tIns="67863" rIns="95943" bIns="0" anchor="t">
            <a:spAutoFit/>
          </a:bodyPr>
          <a:lstStyle/>
          <a:p>
            <a:pPr defTabSz="957579" eaLnBrk="0" hangingPunct="0">
              <a:defRPr/>
            </a:pPr>
            <a:r>
              <a:rPr lang="pt-BR" sz="2400" b="1">
                <a:solidFill>
                  <a:srgbClr val="BFF3CA"/>
                </a:solidFill>
                <a:latin typeface="Arial"/>
                <a:cs typeface="Arial"/>
              </a:rPr>
              <a:t>Conclusões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32D274-633D-0CF8-C6F6-4C4A30DF2284}"/>
              </a:ext>
            </a:extLst>
          </p:cNvPr>
          <p:cNvSpPr txBox="1"/>
          <p:nvPr/>
        </p:nvSpPr>
        <p:spPr>
          <a:xfrm>
            <a:off x="939461" y="1638924"/>
            <a:ext cx="9994605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/>
              <a:t>Existem diferenças relevantes entre as matrizes consideradas nos estudos elétricos e energéticos;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/>
              <a:t>É importante avançar na regulamentação associada às usinas térmicas </a:t>
            </a:r>
            <a:r>
              <a:rPr lang="pt-BR" sz="2400" i="1" err="1"/>
              <a:t>merchants</a:t>
            </a:r>
            <a:r>
              <a:rPr lang="pt-BR" sz="2400"/>
              <a:t>, para que estas possam ser consideradas recursos confiáveis na matriz elétrica;</a:t>
            </a:r>
            <a:endParaRPr lang="pt-BR" sz="24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/>
              <a:t>É importante rediscutir o critério que define a representação da expansão das usinas não simuladas individualmente, para que esta representação seja a mais assertiva possível;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/>
              <a:t>A base de dados do RALIE tende a subdimensionar o portfólio de projetos de usinas não simuladas a partir do terceiro ano do horizonte de estudo.</a:t>
            </a:r>
          </a:p>
        </p:txBody>
      </p:sp>
    </p:spTree>
    <p:extLst>
      <p:ext uri="{BB962C8B-B14F-4D97-AF65-F5344CB8AC3E}">
        <p14:creationId xmlns:p14="http://schemas.microsoft.com/office/powerpoint/2010/main" val="2437026414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Fundo preto com letras brancas&#10;&#10;Descrição gerada automaticamente">
            <a:extLst>
              <a:ext uri="{FF2B5EF4-FFF2-40B4-BE49-F238E27FC236}">
                <a16:creationId xmlns:a16="http://schemas.microsoft.com/office/drawing/2014/main" id="{E0F979E1-3AA0-3778-B937-25D6E51B42A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3091" y="-132957"/>
            <a:ext cx="7976845" cy="7628740"/>
          </a:xfrm>
          <a:prstGeom prst="rect">
            <a:avLst/>
          </a:prstGeom>
        </p:spPr>
      </p:pic>
      <p:pic>
        <p:nvPicPr>
          <p:cNvPr id="19" name="Imagem 18" descr="Uma imagem contendo Logotipo&#10;&#10;Descrição gerada automaticamente">
            <a:extLst>
              <a:ext uri="{FF2B5EF4-FFF2-40B4-BE49-F238E27FC236}">
                <a16:creationId xmlns:a16="http://schemas.microsoft.com/office/drawing/2014/main" id="{243C96CE-3121-9535-56D6-177C5F2DAB0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152" y="2814178"/>
            <a:ext cx="3979572" cy="122964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42D2D52-272A-3E28-4809-28F86AF07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32957"/>
            <a:ext cx="12192000" cy="699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20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51B88DF29C9443AD7268ACD684A274" ma:contentTypeVersion="14" ma:contentTypeDescription="Create a new document." ma:contentTypeScope="" ma:versionID="d501f06aae791dd458b9c411a3b30183">
  <xsd:schema xmlns:xsd="http://www.w3.org/2001/XMLSchema" xmlns:xs="http://www.w3.org/2001/XMLSchema" xmlns:p="http://schemas.microsoft.com/office/2006/metadata/properties" xmlns:ns2="75ce7874-f097-4433-927d-c4a09f4450f9" xmlns:ns3="ec195724-22ef-4f82-90e5-867b7ef67f74" xmlns:ns4="cc97d4cb-9ef9-4c16-9302-76dc037215e5" targetNamespace="http://schemas.microsoft.com/office/2006/metadata/properties" ma:root="true" ma:fieldsID="541edf9885e5f5e16b5515a455cb4a39" ns2:_="" ns3:_="" ns4:_="">
    <xsd:import namespace="75ce7874-f097-4433-927d-c4a09f4450f9"/>
    <xsd:import namespace="ec195724-22ef-4f82-90e5-867b7ef67f74"/>
    <xsd:import namespace="cc97d4cb-9ef9-4c16-9302-76dc037215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e7874-f097-4433-927d-c4a09f4450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27286e3-5101-43ec-98dd-e474663c51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95724-22ef-4f82-90e5-867b7ef67f7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97d4cb-9ef9-4c16-9302-76dc037215e5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ff5ca9a9-8b37-4c28-b468-9f50e007466a}" ma:internalName="TaxCatchAll" ma:showField="CatchAllData" ma:web="ec195724-22ef-4f82-90e5-867b7ef67f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97d4cb-9ef9-4c16-9302-76dc037215e5" xsi:nil="true"/>
    <lcf76f155ced4ddcb4097134ff3c332f xmlns="75ce7874-f097-4433-927d-c4a09f4450f9">
      <Terms xmlns="http://schemas.microsoft.com/office/infopath/2007/PartnerControls"/>
    </lcf76f155ced4ddcb4097134ff3c332f>
    <SharedWithUsers xmlns="ec195724-22ef-4f82-90e5-867b7ef67f74">
      <UserInfo>
        <DisplayName>Vagner Dos Santos Begni</DisplayName>
        <AccountId>3577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11AB5E7-8B6D-4C4C-8EB3-09C2A1A22D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37D88B-DE7F-49E3-81AA-776BF3A62527}">
  <ds:schemaRefs>
    <ds:schemaRef ds:uri="75ce7874-f097-4433-927d-c4a09f4450f9"/>
    <ds:schemaRef ds:uri="cc97d4cb-9ef9-4c16-9302-76dc037215e5"/>
    <ds:schemaRef ds:uri="ec195724-22ef-4f82-90e5-867b7ef67f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1C25F7-5794-40EE-AA1F-1265DCBEFA2E}">
  <ds:schemaRefs>
    <ds:schemaRef ds:uri="75ce7874-f097-4433-927d-c4a09f4450f9"/>
    <ds:schemaRef ds:uri="cc97d4cb-9ef9-4c16-9302-76dc037215e5"/>
    <ds:schemaRef ds:uri="ec195724-22ef-4f82-90e5-867b7ef67f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 2013 - 2022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Lucio De Lemos Ramos Carlos</dc:creator>
  <cp:revision>1</cp:revision>
  <cp:lastPrinted>2025-05-13T18:20:08Z</cp:lastPrinted>
  <dcterms:created xsi:type="dcterms:W3CDTF">2020-12-07T20:18:39Z</dcterms:created>
  <dcterms:modified xsi:type="dcterms:W3CDTF">2025-10-17T13:23:17Z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0x0101008951B88DF29C9443AD7268ACD684A274</vt:lpwstr>
  </property>
  <property fmtid="{D5CDD505-2E9C-101B-9397-08002B2CF9AE}" pid="3" name="MediaServiceImageTags">
    <vt:lpwstr/>
  </property>
</Properties>
</file>